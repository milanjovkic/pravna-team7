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6" r:id="rId4"/>
    <p:sldId id="29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E6B"/>
    <a:srgbClr val="A887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Srednja</a:t>
            </a:r>
            <a:r>
              <a:rPr lang="en-US" baseline="0" dirty="0"/>
              <a:t> </a:t>
            </a:r>
            <a:r>
              <a:rPr lang="en-US" baseline="0" dirty="0" err="1"/>
              <a:t>apsolutna</a:t>
            </a:r>
            <a:r>
              <a:rPr lang="en-US" baseline="0" dirty="0"/>
              <a:t> </a:t>
            </a:r>
            <a:r>
              <a:rPr lang="en-US" baseline="0" dirty="0" err="1"/>
              <a:t>gre</a:t>
            </a:r>
            <a:r>
              <a:rPr lang="sr-Latn-RS" baseline="0" dirty="0"/>
              <a:t>ška MAE </a:t>
            </a:r>
            <a:endParaRPr lang="en-US" dirty="0"/>
          </a:p>
        </c:rich>
      </c:tx>
      <c:layout>
        <c:manualLayout>
          <c:xMode val="edge"/>
          <c:yMode val="edge"/>
          <c:x val="0.14223470178156464"/>
          <c:y val="5.49560351718625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ID4096"/>
        </a:p>
      </c:txPr>
    </c:title>
    <c:autoTitleDeleted val="0"/>
    <c:plotArea>
      <c:layout>
        <c:manualLayout>
          <c:layoutTarget val="inner"/>
          <c:xMode val="edge"/>
          <c:yMode val="edge"/>
          <c:x val="6.0251824157146895E-2"/>
          <c:y val="0.34626242101908766"/>
          <c:w val="0.88810861994303381"/>
          <c:h val="0.542197581546236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3E6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ECC-4BF8-B5F6-8EB88E3BBC13}"/>
              </c:ext>
            </c:extLst>
          </c:dPt>
          <c:dPt>
            <c:idx val="1"/>
            <c:invertIfNegative val="0"/>
            <c:bubble3D val="0"/>
            <c:spPr>
              <a:solidFill>
                <a:srgbClr val="A8874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CC-4BF8-B5F6-8EB88E3BBC13}"/>
              </c:ext>
            </c:extLst>
          </c:dPt>
          <c:cat>
            <c:strRef>
              <c:f>Sheet1!$A$2:$A$3</c:f>
              <c:strCache>
                <c:ptCount val="2"/>
                <c:pt idx="0">
                  <c:v>Pre kalibracije</c:v>
                </c:pt>
                <c:pt idx="1">
                  <c:v>Posle kalibracije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15.9</c:v>
                </c:pt>
                <c:pt idx="1">
                  <c:v>9.1199999999999992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CC-4BF8-B5F6-8EB88E3BBC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239583"/>
        <c:axId val="50236703"/>
      </c:barChart>
      <c:catAx>
        <c:axId val="50239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50236703"/>
        <c:crosses val="autoZero"/>
        <c:auto val="1"/>
        <c:lblAlgn val="ctr"/>
        <c:lblOffset val="100"/>
        <c:noMultiLvlLbl val="0"/>
      </c:catAx>
      <c:valAx>
        <c:axId val="50236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5023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262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D3E6B">
              <a:alpha val="45000"/>
            </a:srgbClr>
          </a:solidFill>
          <a:ln w="12700">
            <a:solidFill>
              <a:srgbClr val="2D3E6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Shape 1"/>
          <p:cNvSpPr/>
          <p:nvPr/>
        </p:nvSpPr>
        <p:spPr>
          <a:xfrm>
            <a:off x="7132320" y="1828800"/>
            <a:ext cx="2743200" cy="2743200"/>
          </a:xfrm>
          <a:prstGeom prst="ellipse">
            <a:avLst/>
          </a:prstGeom>
          <a:solidFill>
            <a:srgbClr val="A8874A">
              <a:alpha val="22000"/>
            </a:srgbClr>
          </a:solidFill>
          <a:ln w="12700">
            <a:solidFill>
              <a:srgbClr val="A8874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286000"/>
          </a:xfrm>
          <a:prstGeom prst="rect">
            <a:avLst/>
          </a:prstGeom>
          <a:solidFill>
            <a:srgbClr val="C9AA71"/>
          </a:solidFill>
          <a:ln w="127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3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za podršku</a:t>
            </a:r>
            <a:endParaRPr lang="sr-Latn-RS" sz="3600" noProof="1"/>
          </a:p>
          <a:p>
            <a:pPr marL="0" indent="0">
              <a:buNone/>
            </a:pPr>
            <a:r>
              <a:rPr lang="sr-Latn-RS" sz="3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sudskom odlučivanju</a:t>
            </a:r>
            <a:endParaRPr lang="sr-Latn-RS" sz="3600" noProof="1"/>
          </a:p>
        </p:txBody>
      </p:sp>
      <p:sp>
        <p:nvSpPr>
          <p:cNvPr id="6" name="Text 4"/>
          <p:cNvSpPr/>
          <p:nvPr/>
        </p:nvSpPr>
        <p:spPr>
          <a:xfrm>
            <a:off x="731520" y="30906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600" noProof="1">
                <a:solidFill>
                  <a:srgbClr val="C9A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Krivična dela protiv života i tela</a:t>
            </a:r>
            <a:endParaRPr lang="sr-Latn-RS" sz="1600" noProof="1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noProof="1">
                <a:solidFill>
                  <a:srgbClr val="7B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Pravna informatika  ·  Tim 7  ·  2025/2026</a:t>
            </a:r>
            <a:endParaRPr lang="sr-Latn-RS" sz="1150" noProof="1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C9A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Miloš Milanović  </a:t>
            </a:r>
            <a:r>
              <a:rPr lang="sr-Latn-RS" sz="120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R25/2025    </a:t>
            </a:r>
            <a:r>
              <a:rPr lang="sr-Latn-RS" sz="1200" b="1" noProof="1">
                <a:solidFill>
                  <a:srgbClr val="C9A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Jovkić  </a:t>
            </a:r>
            <a:r>
              <a:rPr lang="sr-Latn-RS" sz="120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R210/2025    </a:t>
            </a:r>
            <a:r>
              <a:rPr lang="sr-Latn-RS" sz="1200" b="1" noProof="1">
                <a:solidFill>
                  <a:srgbClr val="C9A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Bojan Živanić  </a:t>
            </a:r>
            <a:r>
              <a:rPr lang="sr-Latn-RS" sz="120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R222/2025</a:t>
            </a:r>
            <a:endParaRPr lang="sr-Latn-R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Projekat u jednoj rečenici</a:t>
            </a:r>
            <a:endParaRPr lang="sr-Latn-RS" sz="2800" noProof="1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8138160" cy="132588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" cy="1325880"/>
          </a:xfrm>
          <a:prstGeom prst="rect">
            <a:avLst/>
          </a:prstGeom>
          <a:solidFill>
            <a:srgbClr val="C9AA71"/>
          </a:solidFill>
          <a:ln w="127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Text 4"/>
          <p:cNvSpPr/>
          <p:nvPr/>
        </p:nvSpPr>
        <p:spPr>
          <a:xfrm>
            <a:off x="758952" y="173736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900" b="1" i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"Hibridni sistem koji pomaže sudiji da donese odgovorniju odluku – normativno, analogijski i uz punu transparentnost razloga."</a:t>
            </a:r>
            <a:endParaRPr lang="sr-Latn-RS" sz="1900" noProof="1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2103120" cy="420624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Reasoning</a:t>
            </a:r>
            <a:endParaRPr lang="sr-Latn-RS" sz="1000" noProof="1"/>
          </a:p>
        </p:txBody>
      </p:sp>
      <p:sp>
        <p:nvSpPr>
          <p:cNvPr id="9" name="Shape 7"/>
          <p:cNvSpPr/>
          <p:nvPr/>
        </p:nvSpPr>
        <p:spPr>
          <a:xfrm>
            <a:off x="2514600" y="3246120"/>
            <a:ext cx="2103120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2514600" y="32461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Reasoning</a:t>
            </a:r>
            <a:endParaRPr lang="sr-Latn-RS" sz="1000" noProof="1"/>
          </a:p>
        </p:txBody>
      </p:sp>
      <p:sp>
        <p:nvSpPr>
          <p:cNvPr id="11" name="Shape 9"/>
          <p:cNvSpPr/>
          <p:nvPr/>
        </p:nvSpPr>
        <p:spPr>
          <a:xfrm>
            <a:off x="4526280" y="3246120"/>
            <a:ext cx="2103120" cy="420624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2" name="Text 10"/>
          <p:cNvSpPr/>
          <p:nvPr/>
        </p:nvSpPr>
        <p:spPr>
          <a:xfrm>
            <a:off x="4526280" y="32461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LLM ekstrakcija</a:t>
            </a:r>
            <a:endParaRPr lang="sr-Latn-RS" sz="1000" noProof="1"/>
          </a:p>
        </p:txBody>
      </p:sp>
      <p:sp>
        <p:nvSpPr>
          <p:cNvPr id="13" name="Shape 11"/>
          <p:cNvSpPr/>
          <p:nvPr/>
        </p:nvSpPr>
        <p:spPr>
          <a:xfrm>
            <a:off x="6537960" y="3246120"/>
            <a:ext cx="2103120" cy="420624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6537960" y="32461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Akoma Ntoso + LegalRuleML</a:t>
            </a:r>
            <a:endParaRPr lang="sr-Latn-R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Gdje se sistem može koristiti</a:t>
            </a:r>
            <a:endParaRPr lang="sr-Latn-RS" sz="2800" noProof="1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840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84048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5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  Sudska administracija</a:t>
            </a:r>
            <a:endParaRPr lang="sr-Latn-RS" sz="1500" noProof="1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Analitička podrška za pripremu predmeta i internu harmonizaciju prakse</a:t>
            </a:r>
            <a:endParaRPr lang="sr-Latn-RS" sz="1300" noProof="1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3840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384048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5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Advokatske kancelarije</a:t>
            </a:r>
            <a:endParaRPr lang="sr-Latn-RS" sz="1500" noProof="1"/>
          </a:p>
        </p:txBody>
      </p:sp>
      <p:sp>
        <p:nvSpPr>
          <p:cNvPr id="11" name="Text 9"/>
          <p:cNvSpPr/>
          <p:nvPr/>
        </p:nvSpPr>
        <p:spPr>
          <a:xfrm>
            <a:off x="4754880" y="184708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Ubrzava inicijalnu procenu rizika i mapiranje relevantnih članova i presedana</a:t>
            </a:r>
            <a:endParaRPr lang="sr-Latn-RS" sz="1300" noProof="1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3840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84048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5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Akademija</a:t>
            </a:r>
            <a:endParaRPr lang="sr-Latn-RS" sz="1500" noProof="1"/>
          </a:p>
        </p:txBody>
      </p:sp>
      <p:sp>
        <p:nvSpPr>
          <p:cNvPr id="15" name="Text 13"/>
          <p:cNvSpPr/>
          <p:nvPr/>
        </p:nvSpPr>
        <p:spPr>
          <a:xfrm>
            <a:off x="685800" y="367588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Laboratorija za pravnu argumentaciju i testiranje normativnih hipoteza</a:t>
            </a:r>
            <a:endParaRPr lang="sr-Latn-RS" sz="1300" noProof="1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3840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7" name="Shape 15"/>
          <p:cNvSpPr/>
          <p:nvPr/>
        </p:nvSpPr>
        <p:spPr>
          <a:xfrm>
            <a:off x="4572000" y="3017520"/>
            <a:ext cx="3840480" cy="64008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Text 16"/>
          <p:cNvSpPr/>
          <p:nvPr/>
        </p:nvSpPr>
        <p:spPr>
          <a:xfrm>
            <a:off x="475488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5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🏛  Državne institucije</a:t>
            </a:r>
            <a:endParaRPr lang="sr-Latn-RS" sz="1500" noProof="1"/>
          </a:p>
        </p:txBody>
      </p:sp>
      <p:sp>
        <p:nvSpPr>
          <p:cNvPr id="19" name="Text 17"/>
          <p:cNvSpPr/>
          <p:nvPr/>
        </p:nvSpPr>
        <p:spPr>
          <a:xfrm>
            <a:off x="4754880" y="367588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konzistentnosti tumačenja zakona kroz vreme</a:t>
            </a:r>
            <a:endParaRPr lang="sr-Latn-RS" sz="13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FORMALNI SOJ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8138160" cy="111556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70432"/>
            <a:ext cx="54864" cy="1115568"/>
          </a:xfrm>
          <a:prstGeom prst="rect">
            <a:avLst/>
          </a:prstGeom>
          <a:solidFill>
            <a:srgbClr val="C9AA71"/>
          </a:solidFill>
          <a:ln w="12700">
            <a:solidFill>
              <a:srgbClr val="C9AA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25296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Krivični zakonik Crne Gore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A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Glava četrnaesta – Krivična djela protiv života i tijela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20840" y="1298448"/>
            <a:ext cx="192024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2984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Čl. 143–157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32304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478024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143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52728" y="2468880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Ubistvo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2432304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432304"/>
            <a:ext cx="45720" cy="34975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478024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144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95928" y="2468880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Teško ubistvo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2432304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2432304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2478024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145</a:t>
            </a:r>
            <a:endParaRPr lang="en-US" sz="900" dirty="0">
              <a:solidFill>
                <a:srgbClr val="2D3E6B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39128" y="2468880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Ubistvo na mah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2846070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2846070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2891790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146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52728" y="2882646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Ubistvo djeteta pri porođaju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46120" y="2846070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846070"/>
            <a:ext cx="45720" cy="34975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891790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147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95928" y="2882646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Lišenje života iz samilosti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89320" y="2846070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2846070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9048" y="2891790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148</a:t>
            </a:r>
            <a:endParaRPr lang="en-US" sz="900" dirty="0">
              <a:solidFill>
                <a:srgbClr val="2D3E6B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39128" y="2882646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Nehatno lišenje života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3259836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3259836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3305556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149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52728" y="3296412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Navođenje na samoubistvo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46120" y="3259836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46120" y="3259836"/>
            <a:ext cx="45720" cy="34975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3305556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95928" y="3296412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Nedozvoljen prekid trudnoće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989320" y="3259836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89320" y="3259836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3305556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151</a:t>
            </a:r>
            <a:endParaRPr lang="en-US" sz="900" dirty="0">
              <a:solidFill>
                <a:srgbClr val="2D3E6B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6739128" y="3296412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Teška tjelesna povreda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02920" y="3673602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02920" y="3673602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" y="3719322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151a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252728" y="3710178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Sakaćenje ženskih genitalija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246120" y="3673602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46120" y="3673602"/>
            <a:ext cx="45720" cy="34975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55848" y="3719322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151b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995928" y="3710178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Prinudna sterilizacija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989320" y="3673602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89320" y="3673602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99048" y="3719322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152</a:t>
            </a:r>
            <a:endParaRPr lang="en-US" sz="900" dirty="0">
              <a:solidFill>
                <a:srgbClr val="2D3E6B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6739128" y="3710178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Laka tjelesna povreda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02920" y="4087368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02920" y="4087368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" y="4133088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252728" y="4123944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Učestvovanje u tuči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3246120" y="4087368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46120" y="4087368"/>
            <a:ext cx="45720" cy="34975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55848" y="4133088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995928" y="4123944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Ugrožavanje opasnim oruđem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989320" y="4087368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989320" y="4087368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99048" y="4133088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155</a:t>
            </a:r>
            <a:endParaRPr lang="en-US" sz="900" dirty="0">
              <a:solidFill>
                <a:srgbClr val="2D3E6B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6739128" y="4123944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Izlaganje opasnosti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02920" y="4501134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02920" y="4501134"/>
            <a:ext cx="45720" cy="34975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2648" y="4546854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156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252728" y="4537710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Napuštanje nemoćnog lica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3246120" y="4501134"/>
            <a:ext cx="2651760" cy="34975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246120" y="4501134"/>
            <a:ext cx="45720" cy="34975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55848" y="4546854"/>
            <a:ext cx="621792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čl. 157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995928" y="4537710"/>
            <a:ext cx="1810512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Nepružanje pomoći</a:t>
            </a:r>
            <a:endParaRPr lang="en-US" sz="1150" dirty="0"/>
          </a:p>
        </p:txBody>
      </p:sp>
      <p:sp>
        <p:nvSpPr>
          <p:cNvPr id="80" name="Text 0">
            <a:extLst>
              <a:ext uri="{FF2B5EF4-FFF2-40B4-BE49-F238E27FC236}">
                <a16:creationId xmlns:a16="http://schemas.microsoft.com/office/drawing/2014/main" id="{63A81067-E850-4146-F9D5-4959E9C1E4CE}"/>
              </a:ext>
            </a:extLst>
          </p:cNvPr>
          <p:cNvSpPr/>
          <p:nvPr/>
        </p:nvSpPr>
        <p:spPr>
          <a:xfrm>
            <a:off x="502920" y="29260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Odabrani zakon i obuhvaćena sekcija</a:t>
            </a:r>
          </a:p>
        </p:txBody>
      </p:sp>
      <p:sp>
        <p:nvSpPr>
          <p:cNvPr id="81" name="Shape 1">
            <a:extLst>
              <a:ext uri="{FF2B5EF4-FFF2-40B4-BE49-F238E27FC236}">
                <a16:creationId xmlns:a16="http://schemas.microsoft.com/office/drawing/2014/main" id="{509B48DE-EEA8-8D08-D39D-B1052BACF089}"/>
              </a:ext>
            </a:extLst>
          </p:cNvPr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toka sistema</a:t>
            </a:r>
            <a:endParaRPr lang="sr-Latn-RS" sz="2800" noProof="1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5146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51460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Text 4"/>
          <p:cNvSpPr/>
          <p:nvPr/>
        </p:nvSpPr>
        <p:spPr>
          <a:xfrm>
            <a:off x="667512" y="126187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 zakona</a:t>
            </a:r>
            <a:endParaRPr lang="sr-Latn-RS" sz="1350" noProof="1"/>
          </a:p>
        </p:txBody>
      </p:sp>
      <p:sp>
        <p:nvSpPr>
          <p:cNvPr id="7" name="Text 5"/>
          <p:cNvSpPr/>
          <p:nvPr/>
        </p:nvSpPr>
        <p:spPr>
          <a:xfrm>
            <a:off x="667512" y="168249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i="1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Normativni sloj</a:t>
            </a:r>
            <a:endParaRPr lang="sr-Latn-RS" sz="1000" noProof="1"/>
          </a:p>
        </p:txBody>
      </p:sp>
      <p:sp>
        <p:nvSpPr>
          <p:cNvPr id="8" name="Text 6"/>
          <p:cNvSpPr/>
          <p:nvPr/>
        </p:nvSpPr>
        <p:spPr>
          <a:xfrm>
            <a:off x="667512" y="2011680"/>
            <a:ext cx="2185416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KZ → parsiranje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Semantička anotacija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Akoma Ntoso XML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Hijerarhija normi &amp; sankcija</a:t>
            </a:r>
            <a:endParaRPr lang="sr-Latn-RS" sz="1200" noProof="1"/>
          </a:p>
        </p:txBody>
      </p:sp>
      <p:sp>
        <p:nvSpPr>
          <p:cNvPr id="9" name="Shape 7"/>
          <p:cNvSpPr/>
          <p:nvPr/>
        </p:nvSpPr>
        <p:spPr>
          <a:xfrm>
            <a:off x="3246120" y="1115568"/>
            <a:ext cx="25146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25146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1" name="Text 9"/>
          <p:cNvSpPr/>
          <p:nvPr/>
        </p:nvSpPr>
        <p:spPr>
          <a:xfrm>
            <a:off x="3410712" y="126187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 sudske prakse</a:t>
            </a:r>
            <a:endParaRPr lang="sr-Latn-RS" sz="1350" noProof="1"/>
          </a:p>
        </p:txBody>
      </p:sp>
      <p:sp>
        <p:nvSpPr>
          <p:cNvPr id="12" name="Text 10"/>
          <p:cNvSpPr/>
          <p:nvPr/>
        </p:nvSpPr>
        <p:spPr>
          <a:xfrm>
            <a:off x="3410712" y="168249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i="1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Empirijski sloj</a:t>
            </a:r>
            <a:endParaRPr lang="sr-Latn-RS" sz="1000" noProof="1"/>
          </a:p>
        </p:txBody>
      </p:sp>
      <p:sp>
        <p:nvSpPr>
          <p:cNvPr id="13" name="Text 11"/>
          <p:cNvSpPr/>
          <p:nvPr/>
        </p:nvSpPr>
        <p:spPr>
          <a:xfrm>
            <a:off x="3410712" y="2011680"/>
            <a:ext cx="2185416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presude → OCR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ekstrakcija meta+činjenica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Normalizacija &amp; XML export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baza slučajeva</a:t>
            </a:r>
            <a:endParaRPr lang="sr-Latn-RS" sz="1200" noProof="1"/>
          </a:p>
        </p:txBody>
      </p:sp>
      <p:sp>
        <p:nvSpPr>
          <p:cNvPr id="14" name="Shape 12"/>
          <p:cNvSpPr/>
          <p:nvPr/>
        </p:nvSpPr>
        <p:spPr>
          <a:xfrm>
            <a:off x="5989320" y="1115568"/>
            <a:ext cx="25146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5" name="Shape 13"/>
          <p:cNvSpPr/>
          <p:nvPr/>
        </p:nvSpPr>
        <p:spPr>
          <a:xfrm>
            <a:off x="5989320" y="1115568"/>
            <a:ext cx="251460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6" name="Text 14"/>
          <p:cNvSpPr/>
          <p:nvPr/>
        </p:nvSpPr>
        <p:spPr>
          <a:xfrm>
            <a:off x="6153912" y="126187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Korisnički tok</a:t>
            </a:r>
            <a:endParaRPr lang="sr-Latn-RS" sz="1350" noProof="1"/>
          </a:p>
        </p:txBody>
      </p:sp>
      <p:sp>
        <p:nvSpPr>
          <p:cNvPr id="17" name="Text 15"/>
          <p:cNvSpPr/>
          <p:nvPr/>
        </p:nvSpPr>
        <p:spPr>
          <a:xfrm>
            <a:off x="6153912" y="1682496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i="1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Operativni sloj</a:t>
            </a:r>
            <a:endParaRPr lang="sr-Latn-RS" sz="1000" noProof="1"/>
          </a:p>
        </p:txBody>
      </p:sp>
      <p:sp>
        <p:nvSpPr>
          <p:cNvPr id="18" name="Text 16"/>
          <p:cNvSpPr/>
          <p:nvPr/>
        </p:nvSpPr>
        <p:spPr>
          <a:xfrm>
            <a:off x="6153912" y="2011680"/>
            <a:ext cx="2185416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pravnih činjenica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+ CBR rezonovanje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Predlog + obrazloženje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Čuvanje → naredni CBR</a:t>
            </a:r>
            <a:endParaRPr lang="sr-Latn-R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Slojevita clean arhitektura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713232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704088" y="13350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(UI/API)</a:t>
            </a:r>
            <a:endParaRPr lang="sr-Latn-RS" sz="1300" noProof="1"/>
          </a:p>
        </p:txBody>
      </p:sp>
      <p:sp>
        <p:nvSpPr>
          <p:cNvPr id="8" name="Text 6"/>
          <p:cNvSpPr/>
          <p:nvPr/>
        </p:nvSpPr>
        <p:spPr>
          <a:xfrm>
            <a:off x="3429000" y="1353312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routeri · Angular komponente</a:t>
            </a:r>
            <a:endParaRPr lang="sr-Latn-RS" sz="1150" noProof="1"/>
          </a:p>
        </p:txBody>
      </p:sp>
      <p:sp>
        <p:nvSpPr>
          <p:cNvPr id="9" name="Shape 7"/>
          <p:cNvSpPr/>
          <p:nvPr/>
        </p:nvSpPr>
        <p:spPr>
          <a:xfrm>
            <a:off x="502920" y="2066544"/>
            <a:ext cx="813816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704088" y="21396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sr-Latn-RS" sz="1300" noProof="1"/>
          </a:p>
        </p:txBody>
      </p:sp>
      <p:sp>
        <p:nvSpPr>
          <p:cNvPr id="11" name="Text 9"/>
          <p:cNvSpPr/>
          <p:nvPr/>
        </p:nvSpPr>
        <p:spPr>
          <a:xfrm>
            <a:off x="3429000" y="2157984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orkestracija · Prompt gradnja · Validacija</a:t>
            </a:r>
            <a:endParaRPr lang="sr-Latn-RS" sz="1150" noProof="1"/>
          </a:p>
        </p:txBody>
      </p:sp>
      <p:sp>
        <p:nvSpPr>
          <p:cNvPr id="12" name="Shape 10"/>
          <p:cNvSpPr/>
          <p:nvPr/>
        </p:nvSpPr>
        <p:spPr>
          <a:xfrm>
            <a:off x="502920" y="2871216"/>
            <a:ext cx="8138160" cy="713232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Text 11"/>
          <p:cNvSpPr/>
          <p:nvPr/>
        </p:nvSpPr>
        <p:spPr>
          <a:xfrm>
            <a:off x="704088" y="29443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sr-Latn-RS" sz="1300" noProof="1"/>
          </a:p>
        </p:txBody>
      </p:sp>
      <p:sp>
        <p:nvSpPr>
          <p:cNvPr id="14" name="Text 12"/>
          <p:cNvSpPr/>
          <p:nvPr/>
        </p:nvSpPr>
        <p:spPr>
          <a:xfrm>
            <a:off x="3429000" y="2962656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Entiteti · Vrednosni objekti · Pravila · Politike</a:t>
            </a:r>
            <a:endParaRPr lang="sr-Latn-RS" sz="1150" noProof="1"/>
          </a:p>
        </p:txBody>
      </p:sp>
      <p:sp>
        <p:nvSpPr>
          <p:cNvPr id="15" name="Shape 13"/>
          <p:cNvSpPr/>
          <p:nvPr/>
        </p:nvSpPr>
        <p:spPr>
          <a:xfrm>
            <a:off x="502920" y="3675888"/>
            <a:ext cx="8138160" cy="71323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6" name="Text 14"/>
          <p:cNvSpPr/>
          <p:nvPr/>
        </p:nvSpPr>
        <p:spPr>
          <a:xfrm>
            <a:off x="704088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sr-Latn-RS" sz="1300" noProof="1"/>
          </a:p>
        </p:txBody>
      </p:sp>
      <p:sp>
        <p:nvSpPr>
          <p:cNvPr id="17" name="Text 15"/>
          <p:cNvSpPr/>
          <p:nvPr/>
        </p:nvSpPr>
        <p:spPr>
          <a:xfrm>
            <a:off x="3429000" y="376732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XML/JSON · LLM API · jColibri · dr-device</a:t>
            </a:r>
            <a:endParaRPr lang="sr-Latn-RS" sz="1150" noProof="1"/>
          </a:p>
        </p:txBody>
      </p:sp>
      <p:sp>
        <p:nvSpPr>
          <p:cNvPr id="18" name="Shape 16"/>
          <p:cNvSpPr/>
          <p:nvPr/>
        </p:nvSpPr>
        <p:spPr>
          <a:xfrm>
            <a:off x="502920" y="4498848"/>
            <a:ext cx="813816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9" name="Text 17"/>
          <p:cNvSpPr/>
          <p:nvPr/>
        </p:nvSpPr>
        <p:spPr>
          <a:xfrm>
            <a:off x="685800" y="4544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00" i="1" noProof="1">
                <a:solidFill>
                  <a:srgbClr val="2D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Portovi između Application ↔ Infrastructure — business logika zavisi od apstrakcija, ne od implementacija</a:t>
            </a:r>
            <a:endParaRPr lang="sr-Latn-R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u praksi – kako se vidi u kodu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493776" cy="649224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4937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sr-Latn-RS" sz="2400" noProof="1"/>
          </a:p>
        </p:txBody>
      </p:sp>
      <p:sp>
        <p:nvSpPr>
          <p:cNvPr id="8" name="Shape 6"/>
          <p:cNvSpPr/>
          <p:nvPr/>
        </p:nvSpPr>
        <p:spPr>
          <a:xfrm>
            <a:off x="996696" y="1261872"/>
            <a:ext cx="764438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Text 7"/>
          <p:cNvSpPr/>
          <p:nvPr/>
        </p:nvSpPr>
        <p:spPr>
          <a:xfrm>
            <a:off x="1161288" y="1335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Responsibility</a:t>
            </a:r>
            <a:endParaRPr lang="sr-Latn-RS" sz="1250" noProof="1"/>
          </a:p>
        </p:txBody>
      </p:sp>
      <p:sp>
        <p:nvSpPr>
          <p:cNvPr id="10" name="Text 8"/>
          <p:cNvSpPr/>
          <p:nvPr/>
        </p:nvSpPr>
        <p:spPr>
          <a:xfrm>
            <a:off x="3566160" y="1335024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gradnja, plan generacije, validacija, audit – odvojene komponente</a:t>
            </a:r>
            <a:endParaRPr lang="sr-Latn-RS" sz="1200" noProof="1"/>
          </a:p>
        </p:txBody>
      </p:sp>
      <p:sp>
        <p:nvSpPr>
          <p:cNvPr id="11" name="Shape 9"/>
          <p:cNvSpPr/>
          <p:nvPr/>
        </p:nvSpPr>
        <p:spPr>
          <a:xfrm>
            <a:off x="502920" y="1975104"/>
            <a:ext cx="493776" cy="649224"/>
          </a:xfrm>
          <a:prstGeom prst="rect">
            <a:avLst/>
          </a:prstGeom>
          <a:solidFill>
            <a:srgbClr val="1A5276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2" name="Text 10"/>
          <p:cNvSpPr/>
          <p:nvPr/>
        </p:nvSpPr>
        <p:spPr>
          <a:xfrm>
            <a:off x="502920" y="1975104"/>
            <a:ext cx="4937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sr-Latn-RS" sz="2400" noProof="1"/>
          </a:p>
        </p:txBody>
      </p:sp>
      <p:sp>
        <p:nvSpPr>
          <p:cNvPr id="13" name="Shape 11"/>
          <p:cNvSpPr/>
          <p:nvPr/>
        </p:nvSpPr>
        <p:spPr>
          <a:xfrm>
            <a:off x="996696" y="1975104"/>
            <a:ext cx="764438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1161288" y="2048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Open/Closed</a:t>
            </a:r>
            <a:endParaRPr lang="sr-Latn-RS" sz="1250" noProof="1"/>
          </a:p>
        </p:txBody>
      </p:sp>
      <p:sp>
        <p:nvSpPr>
          <p:cNvPr id="15" name="Text 13"/>
          <p:cNvSpPr/>
          <p:nvPr/>
        </p:nvSpPr>
        <p:spPr>
          <a:xfrm>
            <a:off x="3566160" y="2048256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 provider ili pravna strategija – dodaju se bez lomljenja toka</a:t>
            </a:r>
            <a:endParaRPr lang="sr-Latn-RS" sz="1200" noProof="1"/>
          </a:p>
        </p:txBody>
      </p:sp>
      <p:sp>
        <p:nvSpPr>
          <p:cNvPr id="16" name="Shape 14"/>
          <p:cNvSpPr/>
          <p:nvPr/>
        </p:nvSpPr>
        <p:spPr>
          <a:xfrm>
            <a:off x="502920" y="2688336"/>
            <a:ext cx="493776" cy="649224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7" name="Text 15"/>
          <p:cNvSpPr/>
          <p:nvPr/>
        </p:nvSpPr>
        <p:spPr>
          <a:xfrm>
            <a:off x="502920" y="2688336"/>
            <a:ext cx="4937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sr-Latn-RS" sz="2400" noProof="1"/>
          </a:p>
        </p:txBody>
      </p:sp>
      <p:sp>
        <p:nvSpPr>
          <p:cNvPr id="18" name="Shape 16"/>
          <p:cNvSpPr/>
          <p:nvPr/>
        </p:nvSpPr>
        <p:spPr>
          <a:xfrm>
            <a:off x="996696" y="2688336"/>
            <a:ext cx="764438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9" name="Text 17"/>
          <p:cNvSpPr/>
          <p:nvPr/>
        </p:nvSpPr>
        <p:spPr>
          <a:xfrm>
            <a:off x="1161288" y="2761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Liskov Substitution</a:t>
            </a:r>
            <a:endParaRPr lang="sr-Latn-RS" sz="1250" noProof="1"/>
          </a:p>
        </p:txBody>
      </p:sp>
      <p:sp>
        <p:nvSpPr>
          <p:cNvPr id="20" name="Text 18"/>
          <p:cNvSpPr/>
          <p:nvPr/>
        </p:nvSpPr>
        <p:spPr>
          <a:xfrm>
            <a:off x="3566160" y="2761488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Adapteri su zamenljivi dok ispunjavaju isti ugovor</a:t>
            </a:r>
            <a:endParaRPr lang="sr-Latn-RS" sz="1200" noProof="1"/>
          </a:p>
        </p:txBody>
      </p:sp>
      <p:sp>
        <p:nvSpPr>
          <p:cNvPr id="21" name="Shape 19"/>
          <p:cNvSpPr/>
          <p:nvPr/>
        </p:nvSpPr>
        <p:spPr>
          <a:xfrm>
            <a:off x="502920" y="3401568"/>
            <a:ext cx="493776" cy="649224"/>
          </a:xfrm>
          <a:prstGeom prst="rect">
            <a:avLst/>
          </a:prstGeom>
          <a:solidFill>
            <a:srgbClr val="1A5276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2" name="Text 20"/>
          <p:cNvSpPr/>
          <p:nvPr/>
        </p:nvSpPr>
        <p:spPr>
          <a:xfrm>
            <a:off x="502920" y="3401568"/>
            <a:ext cx="4937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sr-Latn-RS" sz="2400" noProof="1"/>
          </a:p>
        </p:txBody>
      </p:sp>
      <p:sp>
        <p:nvSpPr>
          <p:cNvPr id="23" name="Shape 21"/>
          <p:cNvSpPr/>
          <p:nvPr/>
        </p:nvSpPr>
        <p:spPr>
          <a:xfrm>
            <a:off x="996696" y="3401568"/>
            <a:ext cx="764438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4" name="Text 22"/>
          <p:cNvSpPr/>
          <p:nvPr/>
        </p:nvSpPr>
        <p:spPr>
          <a:xfrm>
            <a:off x="1161288" y="3474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Segregation</a:t>
            </a:r>
            <a:endParaRPr lang="sr-Latn-RS" sz="1250" noProof="1"/>
          </a:p>
        </p:txBody>
      </p:sp>
      <p:sp>
        <p:nvSpPr>
          <p:cNvPr id="25" name="Text 23"/>
          <p:cNvSpPr/>
          <p:nvPr/>
        </p:nvSpPr>
        <p:spPr>
          <a:xfrm>
            <a:off x="3566160" y="347472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Uski port ugovori – svaki use-case zavisi samo od svog minimuma</a:t>
            </a:r>
            <a:endParaRPr lang="sr-Latn-RS" sz="1200" noProof="1"/>
          </a:p>
        </p:txBody>
      </p:sp>
      <p:sp>
        <p:nvSpPr>
          <p:cNvPr id="26" name="Shape 24"/>
          <p:cNvSpPr/>
          <p:nvPr/>
        </p:nvSpPr>
        <p:spPr>
          <a:xfrm>
            <a:off x="502920" y="4114800"/>
            <a:ext cx="493776" cy="649224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4937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4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sr-Latn-RS" sz="2400" noProof="1"/>
          </a:p>
        </p:txBody>
      </p:sp>
      <p:sp>
        <p:nvSpPr>
          <p:cNvPr id="28" name="Shape 26"/>
          <p:cNvSpPr/>
          <p:nvPr/>
        </p:nvSpPr>
        <p:spPr>
          <a:xfrm>
            <a:off x="996696" y="4114800"/>
            <a:ext cx="764438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9" name="Text 27"/>
          <p:cNvSpPr/>
          <p:nvPr/>
        </p:nvSpPr>
        <p:spPr>
          <a:xfrm>
            <a:off x="1161288" y="4187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Inversion</a:t>
            </a:r>
            <a:endParaRPr lang="sr-Latn-RS" sz="1250" noProof="1"/>
          </a:p>
        </p:txBody>
      </p:sp>
      <p:sp>
        <p:nvSpPr>
          <p:cNvPr id="30" name="Text 28"/>
          <p:cNvSpPr/>
          <p:nvPr/>
        </p:nvSpPr>
        <p:spPr>
          <a:xfrm>
            <a:off x="3566160" y="4187952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portovi &amp; bootstrap provideri – use-case ne zna ko stoji iza</a:t>
            </a:r>
            <a:endParaRPr lang="sr-Latn-RS" sz="1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Redosled pokretanja – nije slučajan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99616" cy="205740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6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sr-Latn-RS" sz="2600" noProof="1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kontejner</a:t>
            </a:r>
            <a:endParaRPr lang="sr-Latn-RS" sz="1200" noProof="1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mora biti zdrava pre svih ostalih servisa</a:t>
            </a:r>
            <a:endParaRPr lang="sr-Latn-RS" sz="1000" noProof="1"/>
          </a:p>
        </p:txBody>
      </p:sp>
      <p:sp>
        <p:nvSpPr>
          <p:cNvPr id="10" name="Shape 8"/>
          <p:cNvSpPr/>
          <p:nvPr/>
        </p:nvSpPr>
        <p:spPr>
          <a:xfrm>
            <a:off x="2057400" y="2308860"/>
            <a:ext cx="50292" cy="0"/>
          </a:xfrm>
          <a:prstGeom prst="line">
            <a:avLst/>
          </a:prstGeom>
          <a:noFill/>
          <a:ln w="254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1" name="Shape 9"/>
          <p:cNvSpPr/>
          <p:nvPr/>
        </p:nvSpPr>
        <p:spPr>
          <a:xfrm>
            <a:off x="2162556" y="1280160"/>
            <a:ext cx="1499616" cy="205740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2" name="Text 10"/>
          <p:cNvSpPr/>
          <p:nvPr/>
        </p:nvSpPr>
        <p:spPr>
          <a:xfrm>
            <a:off x="2162556" y="13258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6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sr-Latn-RS" sz="2600" noProof="1"/>
          </a:p>
        </p:txBody>
      </p:sp>
      <p:sp>
        <p:nvSpPr>
          <p:cNvPr id="13" name="Text 11"/>
          <p:cNvSpPr/>
          <p:nvPr/>
        </p:nvSpPr>
        <p:spPr>
          <a:xfrm>
            <a:off x="2253996" y="190195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Sinhronizacija korpusa</a:t>
            </a:r>
            <a:endParaRPr lang="sr-Latn-RS" sz="1200" noProof="1"/>
          </a:p>
        </p:txBody>
      </p:sp>
      <p:sp>
        <p:nvSpPr>
          <p:cNvPr id="14" name="Text 12"/>
          <p:cNvSpPr/>
          <p:nvPr/>
        </p:nvSpPr>
        <p:spPr>
          <a:xfrm>
            <a:off x="2253996" y="261518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TXT → XML lanac, provjera konzistentnosti artefakata</a:t>
            </a:r>
            <a:endParaRPr lang="sr-Latn-RS" sz="1000" noProof="1"/>
          </a:p>
        </p:txBody>
      </p:sp>
      <p:sp>
        <p:nvSpPr>
          <p:cNvPr id="15" name="Shape 13"/>
          <p:cNvSpPr/>
          <p:nvPr/>
        </p:nvSpPr>
        <p:spPr>
          <a:xfrm>
            <a:off x="3717036" y="2308860"/>
            <a:ext cx="50292" cy="0"/>
          </a:xfrm>
          <a:prstGeom prst="line">
            <a:avLst/>
          </a:prstGeom>
          <a:noFill/>
          <a:ln w="254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6" name="Shape 14"/>
          <p:cNvSpPr/>
          <p:nvPr/>
        </p:nvSpPr>
        <p:spPr>
          <a:xfrm>
            <a:off x="3822192" y="1280160"/>
            <a:ext cx="1499616" cy="205740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7" name="Text 15"/>
          <p:cNvSpPr/>
          <p:nvPr/>
        </p:nvSpPr>
        <p:spPr>
          <a:xfrm>
            <a:off x="3822192" y="13258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6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sr-Latn-RS" sz="2600" noProof="1"/>
          </a:p>
        </p:txBody>
      </p:sp>
      <p:sp>
        <p:nvSpPr>
          <p:cNvPr id="18" name="Text 16"/>
          <p:cNvSpPr/>
          <p:nvPr/>
        </p:nvSpPr>
        <p:spPr>
          <a:xfrm>
            <a:off x="3913632" y="190195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slučajeva u DB</a:t>
            </a:r>
            <a:endParaRPr lang="sr-Latn-RS" sz="1200" noProof="1"/>
          </a:p>
        </p:txBody>
      </p:sp>
      <p:sp>
        <p:nvSpPr>
          <p:cNvPr id="19" name="Text 17"/>
          <p:cNvSpPr/>
          <p:nvPr/>
        </p:nvSpPr>
        <p:spPr>
          <a:xfrm>
            <a:off x="3913632" y="261518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baza se puni normalizovanim podacima</a:t>
            </a:r>
            <a:endParaRPr lang="sr-Latn-RS" sz="1000" noProof="1"/>
          </a:p>
        </p:txBody>
      </p:sp>
      <p:sp>
        <p:nvSpPr>
          <p:cNvPr id="20" name="Shape 18"/>
          <p:cNvSpPr/>
          <p:nvPr/>
        </p:nvSpPr>
        <p:spPr>
          <a:xfrm>
            <a:off x="5376672" y="2308860"/>
            <a:ext cx="50292" cy="0"/>
          </a:xfrm>
          <a:prstGeom prst="line">
            <a:avLst/>
          </a:prstGeom>
          <a:noFill/>
          <a:ln w="254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1" name="Shape 19"/>
          <p:cNvSpPr/>
          <p:nvPr/>
        </p:nvSpPr>
        <p:spPr>
          <a:xfrm>
            <a:off x="5481828" y="1280160"/>
            <a:ext cx="1499616" cy="2057400"/>
          </a:xfrm>
          <a:prstGeom prst="rect">
            <a:avLst/>
          </a:prstGeom>
          <a:solidFill>
            <a:srgbClr val="1A5276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2" name="Text 20"/>
          <p:cNvSpPr/>
          <p:nvPr/>
        </p:nvSpPr>
        <p:spPr>
          <a:xfrm>
            <a:off x="5481828" y="13258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6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sr-Latn-RS" sz="2600" noProof="1"/>
          </a:p>
        </p:txBody>
      </p:sp>
      <p:sp>
        <p:nvSpPr>
          <p:cNvPr id="23" name="Text 21"/>
          <p:cNvSpPr/>
          <p:nvPr/>
        </p:nvSpPr>
        <p:spPr>
          <a:xfrm>
            <a:off x="5573268" y="190195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(FastAPI)</a:t>
            </a:r>
            <a:endParaRPr lang="sr-Latn-RS" sz="1200" noProof="1"/>
          </a:p>
        </p:txBody>
      </p:sp>
      <p:sp>
        <p:nvSpPr>
          <p:cNvPr id="24" name="Text 22"/>
          <p:cNvSpPr/>
          <p:nvPr/>
        </p:nvSpPr>
        <p:spPr>
          <a:xfrm>
            <a:off x="5573268" y="261518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sloj tek kada su podaci konzistentni</a:t>
            </a:r>
            <a:endParaRPr lang="sr-Latn-RS" sz="1000" noProof="1"/>
          </a:p>
        </p:txBody>
      </p:sp>
      <p:sp>
        <p:nvSpPr>
          <p:cNvPr id="25" name="Shape 23"/>
          <p:cNvSpPr/>
          <p:nvPr/>
        </p:nvSpPr>
        <p:spPr>
          <a:xfrm>
            <a:off x="7036308" y="2308860"/>
            <a:ext cx="50292" cy="0"/>
          </a:xfrm>
          <a:prstGeom prst="line">
            <a:avLst/>
          </a:prstGeom>
          <a:noFill/>
          <a:ln w="254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6" name="Shape 24"/>
          <p:cNvSpPr/>
          <p:nvPr/>
        </p:nvSpPr>
        <p:spPr>
          <a:xfrm>
            <a:off x="7141464" y="1280160"/>
            <a:ext cx="1499616" cy="2057400"/>
          </a:xfrm>
          <a:prstGeom prst="rect">
            <a:avLst/>
          </a:prstGeom>
          <a:solidFill>
            <a:srgbClr val="1A5276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7" name="Text 25"/>
          <p:cNvSpPr/>
          <p:nvPr/>
        </p:nvSpPr>
        <p:spPr>
          <a:xfrm>
            <a:off x="7141464" y="13258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6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sr-Latn-RS" sz="2600" noProof="1"/>
          </a:p>
        </p:txBody>
      </p:sp>
      <p:sp>
        <p:nvSpPr>
          <p:cNvPr id="28" name="Text 26"/>
          <p:cNvSpPr/>
          <p:nvPr/>
        </p:nvSpPr>
        <p:spPr>
          <a:xfrm>
            <a:off x="7232904" y="190195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(Angular)</a:t>
            </a:r>
            <a:endParaRPr lang="sr-Latn-RS" sz="1200" noProof="1"/>
          </a:p>
        </p:txBody>
      </p:sp>
      <p:sp>
        <p:nvSpPr>
          <p:cNvPr id="29" name="Text 27"/>
          <p:cNvSpPr/>
          <p:nvPr/>
        </p:nvSpPr>
        <p:spPr>
          <a:xfrm>
            <a:off x="7232904" y="261518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kao poslednji korak – oslanja se na stabilan API</a:t>
            </a:r>
            <a:endParaRPr lang="sr-Latn-RS" sz="1000" noProof="1"/>
          </a:p>
        </p:txBody>
      </p:sp>
      <p:sp>
        <p:nvSpPr>
          <p:cNvPr id="30" name="Shape 28"/>
          <p:cNvSpPr/>
          <p:nvPr/>
        </p:nvSpPr>
        <p:spPr>
          <a:xfrm>
            <a:off x="502920" y="3520440"/>
            <a:ext cx="8138160" cy="438912"/>
          </a:xfrm>
          <a:prstGeom prst="rect">
            <a:avLst/>
          </a:prstGeom>
          <a:solidFill>
            <a:srgbClr val="EEF2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1" name="Text 29"/>
          <p:cNvSpPr/>
          <p:nvPr/>
        </p:nvSpPr>
        <p:spPr>
          <a:xfrm>
            <a:off x="685800" y="3566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i="1" noProof="1">
                <a:solidFill>
                  <a:srgbClr val="2D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tok: podiže server → smoke test → governance provjere → evaluacione skripte  →  ponovljiva provjera kvaliteta, ne samo lokalni demo</a:t>
            </a:r>
            <a:endParaRPr lang="sr-Latn-RS" sz="11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FORMALNI SLOJ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Akoma Ntoso – anotacija zakona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74904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374904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Text 6"/>
          <p:cNvSpPr/>
          <p:nvPr/>
        </p:nvSpPr>
        <p:spPr>
          <a:xfrm>
            <a:off x="685800" y="14081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se anotira</a:t>
            </a:r>
            <a:endParaRPr lang="sr-Latn-RS" sz="1400" noProof="1"/>
          </a:p>
        </p:txBody>
      </p:sp>
      <p:sp>
        <p:nvSpPr>
          <p:cNvPr id="9" name="Text 7"/>
          <p:cNvSpPr/>
          <p:nvPr/>
        </p:nvSpPr>
        <p:spPr>
          <a:xfrm>
            <a:off x="685800" y="1865376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Klasifikacione jedinice (deo, glava, član, stav)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Sankcioni elementi (tip, min/max vrednost, jedinica)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ka drugim zakonima i unutar istog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Organizacije, datumi, pravni koncepti, entiteti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Qualifier-i: aggravated / mitigated / posebni uslovi</a:t>
            </a:r>
            <a:endParaRPr lang="sr-Latn-RS" sz="1250" noProof="1"/>
          </a:p>
        </p:txBody>
      </p:sp>
      <p:sp>
        <p:nvSpPr>
          <p:cNvPr id="10" name="Shape 8"/>
          <p:cNvSpPr/>
          <p:nvPr/>
        </p:nvSpPr>
        <p:spPr>
          <a:xfrm>
            <a:off x="4434840" y="1261872"/>
            <a:ext cx="420624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1" name="Text 9"/>
          <p:cNvSpPr/>
          <p:nvPr/>
        </p:nvSpPr>
        <p:spPr>
          <a:xfrm>
            <a:off x="4599432" y="1371600"/>
            <a:ext cx="387705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 encoding="utf-8"?&gt;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&lt;akomaNtoso xmlns="http://docs.oasis-open.org/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legaldocml/ns/akn/3.0/WD17"&gt;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&lt;act name="Krivični zakonik"&gt;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&lt;identification source="#auto"&gt;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&lt;FRBRWork&gt;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&lt;FRBRthis value="/akn/me/act/2024/!main"/&gt;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&lt;FRBRuri value="/akn/me/act/2024"/&gt;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&lt;FRBRdate date="2024-01-01"/&gt;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&lt;FRBRcountry value="me"/&gt;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&lt;FRBRname value="Krivični zakonik"/&gt;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&lt;/FRBRWork&gt;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&lt;/identification&gt;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&lt;/meta&gt;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&lt;body&gt;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&lt;chapter eId="chp_14"&gt;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&lt;num&gt;XIV&lt;/num&gt;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&lt;heading&gt;Krivična djela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protiv života&lt;/heading&gt;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&lt;article eId="art_143"&gt;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&lt;num&gt;Član 143&lt;/num&gt;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&lt;paragraph eId="art_143_para_1"&gt;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&lt;content&gt;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&lt;p&gt;Ko drugog liši života, kazniće se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zatvorom od pet do petnaest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godina.&lt;/p&gt;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&lt;/content&gt;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&lt;/paragraph&gt;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&lt;/article&gt;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&lt;/chapter&gt;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&lt;/body&gt;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&lt;/act&gt;</a:t>
            </a:r>
            <a:endParaRPr lang="sr-Latn-RS" sz="580" noProof="1"/>
          </a:p>
          <a:p>
            <a:pPr marL="0" indent="0">
              <a:buNone/>
            </a:pPr>
            <a:r>
              <a:rPr lang="sr-Latn-RS" sz="58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&lt;/akomaNtoso&gt;</a:t>
            </a:r>
            <a:endParaRPr lang="sr-Latn-RS" sz="580" noProof="1"/>
          </a:p>
        </p:txBody>
      </p:sp>
      <p:sp>
        <p:nvSpPr>
          <p:cNvPr id="12" name="Shape 10"/>
          <p:cNvSpPr/>
          <p:nvPr/>
        </p:nvSpPr>
        <p:spPr>
          <a:xfrm>
            <a:off x="4434840" y="4572000"/>
            <a:ext cx="4206240" cy="237744"/>
          </a:xfrm>
          <a:prstGeom prst="rect">
            <a:avLst/>
          </a:prstGeom>
          <a:solidFill>
            <a:srgbClr val="EEF2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3" name="Text 11"/>
          <p:cNvSpPr/>
          <p:nvPr/>
        </p:nvSpPr>
        <p:spPr>
          <a:xfrm>
            <a:off x="4617720" y="4581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850" i="1" noProof="1">
                <a:solidFill>
                  <a:srgbClr val="2D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zakon anotiran bez izuzetka – čak i delovi koji se ne koriste direktno za rezonovanje moraju biti XML-prikazivi.</a:t>
            </a:r>
            <a:endParaRPr lang="sr-Latn-RS" sz="8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FORMALNI SLOJ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309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LegalRuleML – formalna pravila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17373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3600" b="1" noProof="1">
                <a:solidFill>
                  <a:srgbClr val="2D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sr-Latn-RS" sz="3600" noProof="1"/>
          </a:p>
        </p:txBody>
      </p:sp>
      <p:sp>
        <p:nvSpPr>
          <p:cNvPr id="8" name="Text 6"/>
          <p:cNvSpPr/>
          <p:nvPr/>
        </p:nvSpPr>
        <p:spPr>
          <a:xfrm>
            <a:off x="576072" y="1956816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aktivnih pravila za reasoning</a:t>
            </a:r>
            <a:endParaRPr lang="sr-Latn-RS" sz="1000" noProof="1"/>
          </a:p>
        </p:txBody>
      </p:sp>
      <p:sp>
        <p:nvSpPr>
          <p:cNvPr id="9" name="Shape 7"/>
          <p:cNvSpPr/>
          <p:nvPr/>
        </p:nvSpPr>
        <p:spPr>
          <a:xfrm>
            <a:off x="2423160" y="1261872"/>
            <a:ext cx="17373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2423160" y="131673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000" b="1" noProof="1">
                <a:solidFill>
                  <a:srgbClr val="2D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dr‑device</a:t>
            </a:r>
            <a:endParaRPr lang="sr-Latn-RS" sz="2000" noProof="1"/>
          </a:p>
        </p:txBody>
      </p:sp>
      <p:sp>
        <p:nvSpPr>
          <p:cNvPr id="11" name="Text 9"/>
          <p:cNvSpPr/>
          <p:nvPr/>
        </p:nvSpPr>
        <p:spPr>
          <a:xfrm>
            <a:off x="2496312" y="1956816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za izvršavanje</a:t>
            </a:r>
            <a:endParaRPr lang="sr-Latn-RS" sz="1000" noProof="1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397764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397764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685800" y="281635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pravila pokrivaju</a:t>
            </a:r>
            <a:endParaRPr lang="sr-Latn-RS" sz="1350" noProof="1"/>
          </a:p>
        </p:txBody>
      </p:sp>
      <p:sp>
        <p:nvSpPr>
          <p:cNvPr id="15" name="Text 13"/>
          <p:cNvSpPr/>
          <p:nvPr/>
        </p:nvSpPr>
        <p:spPr>
          <a:xfrm>
            <a:off x="685800" y="3255264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Normativni i deontički sloj (obaveze, zabrane, dozvole)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Negacije i defeat relacije između suprotstavljenih normi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Usaglašeni skup činjenica sa sudskim odlukama</a:t>
            </a:r>
            <a:endParaRPr lang="sr-Latn-RS" sz="1250" noProof="1"/>
          </a:p>
        </p:txBody>
      </p:sp>
      <p:sp>
        <p:nvSpPr>
          <p:cNvPr id="16" name="Shape 14"/>
          <p:cNvSpPr/>
          <p:nvPr/>
        </p:nvSpPr>
        <p:spPr>
          <a:xfrm>
            <a:off x="4617720" y="1261872"/>
            <a:ext cx="4023360" cy="35844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7" name="Text 15"/>
          <p:cNvSpPr/>
          <p:nvPr/>
        </p:nvSpPr>
        <p:spPr>
          <a:xfrm>
            <a:off x="4782312" y="1371600"/>
            <a:ext cx="3694176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(defeasiblerule rule7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(lc:case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(lc:defendant ?Defendant)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(lc:life_consequence_type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"smrt_nastupila")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(lc:case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(lc:defendant ?Defendant)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(lc:guilt_form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"umisljaj_direktni")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(lc:case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(lc:defendant ?Defendant)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(lc:danger_to_third_parties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"true")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(crime_art144_3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(defendant ?Defendant)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sr-Latn-RS" sz="9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Korpus i obim podataka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153985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153985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53985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4000" b="1" noProof="1">
                <a:solidFill>
                  <a:srgbClr val="2D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sr-Latn-RS" sz="4000" noProof="1"/>
          </a:p>
        </p:txBody>
      </p:sp>
      <p:sp>
        <p:nvSpPr>
          <p:cNvPr id="9" name="Text 7"/>
          <p:cNvSpPr/>
          <p:nvPr/>
        </p:nvSpPr>
        <p:spPr>
          <a:xfrm>
            <a:off x="576072" y="2286000"/>
            <a:ext cx="1393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presuda</a:t>
            </a:r>
            <a:endParaRPr lang="sr-Latn-RS" sz="1200" noProof="1"/>
          </a:p>
        </p:txBody>
      </p:sp>
      <p:sp>
        <p:nvSpPr>
          <p:cNvPr id="10" name="Text 8"/>
          <p:cNvSpPr/>
          <p:nvPr/>
        </p:nvSpPr>
        <p:spPr>
          <a:xfrm>
            <a:off x="576072" y="2734056"/>
            <a:ext cx="139354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Kompletan ulazni korpus krivičnih predmeta</a:t>
            </a:r>
            <a:endParaRPr lang="sr-Latn-RS" sz="1050" noProof="1"/>
          </a:p>
        </p:txBody>
      </p:sp>
      <p:sp>
        <p:nvSpPr>
          <p:cNvPr id="11" name="Shape 9"/>
          <p:cNvSpPr/>
          <p:nvPr/>
        </p:nvSpPr>
        <p:spPr>
          <a:xfrm>
            <a:off x="2152498" y="1261872"/>
            <a:ext cx="153985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2" name="Shape 10"/>
          <p:cNvSpPr/>
          <p:nvPr/>
        </p:nvSpPr>
        <p:spPr>
          <a:xfrm>
            <a:off x="2152498" y="1261872"/>
            <a:ext cx="153985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3" name="Text 11"/>
          <p:cNvSpPr/>
          <p:nvPr/>
        </p:nvSpPr>
        <p:spPr>
          <a:xfrm>
            <a:off x="2152498" y="1371600"/>
            <a:ext cx="153985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4000" b="1" noProof="1">
                <a:solidFill>
                  <a:srgbClr val="2D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sr-Latn-RS" sz="4000" noProof="1"/>
          </a:p>
        </p:txBody>
      </p:sp>
      <p:sp>
        <p:nvSpPr>
          <p:cNvPr id="14" name="Text 12"/>
          <p:cNvSpPr/>
          <p:nvPr/>
        </p:nvSpPr>
        <p:spPr>
          <a:xfrm>
            <a:off x="2225650" y="2286000"/>
            <a:ext cx="1393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TXT transkripata</a:t>
            </a:r>
            <a:endParaRPr lang="sr-Latn-RS" sz="1200" noProof="1"/>
          </a:p>
        </p:txBody>
      </p:sp>
      <p:sp>
        <p:nvSpPr>
          <p:cNvPr id="15" name="Text 13"/>
          <p:cNvSpPr/>
          <p:nvPr/>
        </p:nvSpPr>
        <p:spPr>
          <a:xfrm>
            <a:off x="2225650" y="2734056"/>
            <a:ext cx="139354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Sinhronizovano 1:1 sa PDF korpusom</a:t>
            </a:r>
            <a:endParaRPr lang="sr-Latn-RS" sz="1050" noProof="1"/>
          </a:p>
        </p:txBody>
      </p:sp>
      <p:sp>
        <p:nvSpPr>
          <p:cNvPr id="16" name="Shape 14"/>
          <p:cNvSpPr/>
          <p:nvPr/>
        </p:nvSpPr>
        <p:spPr>
          <a:xfrm>
            <a:off x="3802075" y="1261872"/>
            <a:ext cx="153985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7" name="Shape 15"/>
          <p:cNvSpPr/>
          <p:nvPr/>
        </p:nvSpPr>
        <p:spPr>
          <a:xfrm>
            <a:off x="3802075" y="1261872"/>
            <a:ext cx="153985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Text 16"/>
          <p:cNvSpPr/>
          <p:nvPr/>
        </p:nvSpPr>
        <p:spPr>
          <a:xfrm>
            <a:off x="3802075" y="1371600"/>
            <a:ext cx="153985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4000" b="1" noProof="1">
                <a:solidFill>
                  <a:srgbClr val="2D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sr-Latn-RS" sz="4000" noProof="1"/>
          </a:p>
        </p:txBody>
      </p:sp>
      <p:sp>
        <p:nvSpPr>
          <p:cNvPr id="19" name="Text 17"/>
          <p:cNvSpPr/>
          <p:nvPr/>
        </p:nvSpPr>
        <p:spPr>
          <a:xfrm>
            <a:off x="3875227" y="2286000"/>
            <a:ext cx="1393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presuda</a:t>
            </a:r>
            <a:endParaRPr lang="sr-Latn-RS" sz="1200" noProof="1"/>
          </a:p>
        </p:txBody>
      </p:sp>
      <p:sp>
        <p:nvSpPr>
          <p:cNvPr id="20" name="Text 18"/>
          <p:cNvSpPr/>
          <p:nvPr/>
        </p:nvSpPr>
        <p:spPr>
          <a:xfrm>
            <a:off x="3875227" y="2734056"/>
            <a:ext cx="139354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Akoma Ntoso anotacija bez gubitka pokrivenosti</a:t>
            </a:r>
            <a:endParaRPr lang="sr-Latn-RS" sz="1050" noProof="1"/>
          </a:p>
        </p:txBody>
      </p:sp>
      <p:sp>
        <p:nvSpPr>
          <p:cNvPr id="21" name="Shape 19"/>
          <p:cNvSpPr/>
          <p:nvPr/>
        </p:nvSpPr>
        <p:spPr>
          <a:xfrm>
            <a:off x="5451653" y="1261872"/>
            <a:ext cx="153985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2" name="Shape 20"/>
          <p:cNvSpPr/>
          <p:nvPr/>
        </p:nvSpPr>
        <p:spPr>
          <a:xfrm>
            <a:off x="5451653" y="1261872"/>
            <a:ext cx="153985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3" name="Text 21"/>
          <p:cNvSpPr/>
          <p:nvPr/>
        </p:nvSpPr>
        <p:spPr>
          <a:xfrm>
            <a:off x="5451653" y="1371600"/>
            <a:ext cx="153985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4000" b="1" noProof="1">
                <a:solidFill>
                  <a:srgbClr val="2D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sr-Latn-RS" sz="4000" noProof="1"/>
          </a:p>
        </p:txBody>
      </p:sp>
      <p:sp>
        <p:nvSpPr>
          <p:cNvPr id="24" name="Text 22"/>
          <p:cNvSpPr/>
          <p:nvPr/>
        </p:nvSpPr>
        <p:spPr>
          <a:xfrm>
            <a:off x="5524805" y="2286000"/>
            <a:ext cx="1393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kalibracionih</a:t>
            </a:r>
            <a:endParaRPr lang="sr-Latn-RS" sz="1200" noProof="1"/>
          </a:p>
        </p:txBody>
      </p:sp>
      <p:sp>
        <p:nvSpPr>
          <p:cNvPr id="25" name="Text 23"/>
          <p:cNvSpPr/>
          <p:nvPr/>
        </p:nvSpPr>
        <p:spPr>
          <a:xfrm>
            <a:off x="5524805" y="2734056"/>
            <a:ext cx="139354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Poseban uzorak za kalibraciju sankcione politike</a:t>
            </a:r>
            <a:endParaRPr lang="sr-Latn-RS" sz="1050" noProof="1"/>
          </a:p>
        </p:txBody>
      </p:sp>
      <p:sp>
        <p:nvSpPr>
          <p:cNvPr id="26" name="Shape 24"/>
          <p:cNvSpPr/>
          <p:nvPr/>
        </p:nvSpPr>
        <p:spPr>
          <a:xfrm>
            <a:off x="7101230" y="1261872"/>
            <a:ext cx="153985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7" name="Shape 25"/>
          <p:cNvSpPr/>
          <p:nvPr/>
        </p:nvSpPr>
        <p:spPr>
          <a:xfrm>
            <a:off x="7101230" y="1261872"/>
            <a:ext cx="153985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8" name="Text 26"/>
          <p:cNvSpPr/>
          <p:nvPr/>
        </p:nvSpPr>
        <p:spPr>
          <a:xfrm>
            <a:off x="7101230" y="1371600"/>
            <a:ext cx="153985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4000" b="1" noProof="1">
                <a:solidFill>
                  <a:srgbClr val="2D3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sr-Latn-RS" sz="4000" noProof="1"/>
          </a:p>
        </p:txBody>
      </p:sp>
      <p:sp>
        <p:nvSpPr>
          <p:cNvPr id="29" name="Text 27"/>
          <p:cNvSpPr/>
          <p:nvPr/>
        </p:nvSpPr>
        <p:spPr>
          <a:xfrm>
            <a:off x="7174382" y="2286000"/>
            <a:ext cx="1393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testnih presuda</a:t>
            </a:r>
            <a:endParaRPr lang="sr-Latn-RS" sz="1200" noProof="1"/>
          </a:p>
        </p:txBody>
      </p:sp>
      <p:sp>
        <p:nvSpPr>
          <p:cNvPr id="30" name="Text 28"/>
          <p:cNvSpPr/>
          <p:nvPr/>
        </p:nvSpPr>
        <p:spPr>
          <a:xfrm>
            <a:off x="7174382" y="2734056"/>
            <a:ext cx="139354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Zakljočan evaluacioni set – stabilan referentni skup</a:t>
            </a:r>
            <a:endParaRPr lang="sr-Latn-RS" sz="1050" noProof="1"/>
          </a:p>
        </p:txBody>
      </p:sp>
      <p:sp>
        <p:nvSpPr>
          <p:cNvPr id="31" name="Shape 29"/>
          <p:cNvSpPr/>
          <p:nvPr/>
        </p:nvSpPr>
        <p:spPr>
          <a:xfrm>
            <a:off x="502920" y="4041648"/>
            <a:ext cx="813816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2" name="Shape 30"/>
          <p:cNvSpPr/>
          <p:nvPr/>
        </p:nvSpPr>
        <p:spPr>
          <a:xfrm>
            <a:off x="502920" y="4041648"/>
            <a:ext cx="54864" cy="749808"/>
          </a:xfrm>
          <a:prstGeom prst="rect">
            <a:avLst/>
          </a:prstGeom>
          <a:solidFill>
            <a:srgbClr val="C9AA71"/>
          </a:solidFill>
          <a:ln w="127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3" name="Text 31"/>
          <p:cNvSpPr/>
          <p:nvPr/>
        </p:nvSpPr>
        <p:spPr>
          <a:xfrm>
            <a:off x="704088" y="4105656"/>
            <a:ext cx="7845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i="1" noProof="1">
                <a:solidFill>
                  <a:srgbClr val="2D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korpus je sinhronizovan kroz PDF-TXT-XML lanac bez gubitka pokrivenosti. Nije simbolički demo – dovoljno bogat da se uoče obrasci, greške i efekti kalibracije.</a:t>
            </a:r>
            <a:endParaRPr lang="sr-Latn-RS" sz="11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LLM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 ekstrakcije: PDF → XML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1463040" cy="123444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576072" y="133502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5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presuda</a:t>
            </a:r>
            <a:endParaRPr lang="sr-Latn-RS" sz="1150" noProof="1"/>
          </a:p>
        </p:txBody>
      </p:sp>
      <p:sp>
        <p:nvSpPr>
          <p:cNvPr id="8" name="Text 6"/>
          <p:cNvSpPr/>
          <p:nvPr/>
        </p:nvSpPr>
        <p:spPr>
          <a:xfrm>
            <a:off x="57607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sirovi dokument</a:t>
            </a:r>
            <a:endParaRPr lang="sr-Latn-RS" sz="950" noProof="1"/>
          </a:p>
        </p:txBody>
      </p:sp>
      <p:sp>
        <p:nvSpPr>
          <p:cNvPr id="9" name="Shape 7"/>
          <p:cNvSpPr/>
          <p:nvPr/>
        </p:nvSpPr>
        <p:spPr>
          <a:xfrm>
            <a:off x="2002536" y="1879092"/>
            <a:ext cx="132588" cy="0"/>
          </a:xfrm>
          <a:prstGeom prst="line">
            <a:avLst/>
          </a:prstGeom>
          <a:noFill/>
          <a:ln w="254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Shape 8"/>
          <p:cNvSpPr/>
          <p:nvPr/>
        </p:nvSpPr>
        <p:spPr>
          <a:xfrm>
            <a:off x="2171700" y="1261872"/>
            <a:ext cx="1463040" cy="1234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1" name="Text 9"/>
          <p:cNvSpPr/>
          <p:nvPr/>
        </p:nvSpPr>
        <p:spPr>
          <a:xfrm>
            <a:off x="2244852" y="133502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5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TXT ekstrakcija</a:t>
            </a:r>
            <a:endParaRPr lang="sr-Latn-RS" sz="1150" noProof="1"/>
          </a:p>
        </p:txBody>
      </p:sp>
      <p:sp>
        <p:nvSpPr>
          <p:cNvPr id="12" name="Text 10"/>
          <p:cNvSpPr/>
          <p:nvPr/>
        </p:nvSpPr>
        <p:spPr>
          <a:xfrm>
            <a:off x="224485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sloj</a:t>
            </a:r>
            <a:endParaRPr lang="sr-Latn-RS" sz="950" noProof="1"/>
          </a:p>
        </p:txBody>
      </p:sp>
      <p:sp>
        <p:nvSpPr>
          <p:cNvPr id="13" name="Shape 11"/>
          <p:cNvSpPr/>
          <p:nvPr/>
        </p:nvSpPr>
        <p:spPr>
          <a:xfrm>
            <a:off x="3671316" y="1879092"/>
            <a:ext cx="132588" cy="0"/>
          </a:xfrm>
          <a:prstGeom prst="line">
            <a:avLst/>
          </a:prstGeom>
          <a:noFill/>
          <a:ln w="254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Shape 12"/>
          <p:cNvSpPr/>
          <p:nvPr/>
        </p:nvSpPr>
        <p:spPr>
          <a:xfrm>
            <a:off x="3840480" y="1261872"/>
            <a:ext cx="1463040" cy="123444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5" name="Text 13"/>
          <p:cNvSpPr/>
          <p:nvPr/>
        </p:nvSpPr>
        <p:spPr>
          <a:xfrm>
            <a:off x="3913632" y="133502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5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Repair (LLM)</a:t>
            </a:r>
            <a:endParaRPr lang="sr-Latn-RS" sz="1150" noProof="1"/>
          </a:p>
        </p:txBody>
      </p:sp>
      <p:sp>
        <p:nvSpPr>
          <p:cNvPr id="16" name="Text 14"/>
          <p:cNvSpPr/>
          <p:nvPr/>
        </p:nvSpPr>
        <p:spPr>
          <a:xfrm>
            <a:off x="391363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korekcija</a:t>
            </a:r>
            <a:endParaRPr lang="sr-Latn-RS" sz="950" noProof="1"/>
          </a:p>
        </p:txBody>
      </p:sp>
      <p:sp>
        <p:nvSpPr>
          <p:cNvPr id="17" name="Shape 15"/>
          <p:cNvSpPr/>
          <p:nvPr/>
        </p:nvSpPr>
        <p:spPr>
          <a:xfrm>
            <a:off x="5340096" y="1879092"/>
            <a:ext cx="132588" cy="0"/>
          </a:xfrm>
          <a:prstGeom prst="line">
            <a:avLst/>
          </a:prstGeom>
          <a:noFill/>
          <a:ln w="254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Shape 16"/>
          <p:cNvSpPr/>
          <p:nvPr/>
        </p:nvSpPr>
        <p:spPr>
          <a:xfrm>
            <a:off x="5509260" y="1261872"/>
            <a:ext cx="1463040" cy="12344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9" name="Text 17"/>
          <p:cNvSpPr/>
          <p:nvPr/>
        </p:nvSpPr>
        <p:spPr>
          <a:xfrm>
            <a:off x="5582412" y="133502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5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Strukturna anotacija</a:t>
            </a:r>
            <a:endParaRPr lang="sr-Latn-RS" sz="1150" noProof="1"/>
          </a:p>
        </p:txBody>
      </p:sp>
      <p:sp>
        <p:nvSpPr>
          <p:cNvPr id="20" name="Text 18"/>
          <p:cNvSpPr/>
          <p:nvPr/>
        </p:nvSpPr>
        <p:spPr>
          <a:xfrm>
            <a:off x="558241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činjenice</a:t>
            </a:r>
            <a:endParaRPr lang="sr-Latn-RS" sz="950" noProof="1"/>
          </a:p>
        </p:txBody>
      </p:sp>
      <p:sp>
        <p:nvSpPr>
          <p:cNvPr id="21" name="Shape 19"/>
          <p:cNvSpPr/>
          <p:nvPr/>
        </p:nvSpPr>
        <p:spPr>
          <a:xfrm>
            <a:off x="7008876" y="1879092"/>
            <a:ext cx="132588" cy="0"/>
          </a:xfrm>
          <a:prstGeom prst="line">
            <a:avLst/>
          </a:prstGeom>
          <a:noFill/>
          <a:ln w="254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2" name="Shape 20"/>
          <p:cNvSpPr/>
          <p:nvPr/>
        </p:nvSpPr>
        <p:spPr>
          <a:xfrm>
            <a:off x="7178040" y="1261872"/>
            <a:ext cx="1463040" cy="123444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3" name="Text 21"/>
          <p:cNvSpPr/>
          <p:nvPr/>
        </p:nvSpPr>
        <p:spPr>
          <a:xfrm>
            <a:off x="7251192" y="1335024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5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Akoma Ntoso XML</a:t>
            </a:r>
            <a:endParaRPr lang="sr-Latn-RS" sz="1150" noProof="1"/>
          </a:p>
        </p:txBody>
      </p:sp>
      <p:sp>
        <p:nvSpPr>
          <p:cNvPr id="24" name="Text 22"/>
          <p:cNvSpPr/>
          <p:nvPr/>
        </p:nvSpPr>
        <p:spPr>
          <a:xfrm>
            <a:off x="7251192" y="20116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i="1" noProof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finalni artefakt</a:t>
            </a:r>
            <a:endParaRPr lang="sr-Latn-RS" sz="950" noProof="1"/>
          </a:p>
        </p:txBody>
      </p:sp>
      <p:sp>
        <p:nvSpPr>
          <p:cNvPr id="25" name="Shape 23"/>
          <p:cNvSpPr/>
          <p:nvPr/>
        </p:nvSpPr>
        <p:spPr>
          <a:xfrm>
            <a:off x="502920" y="2688336"/>
            <a:ext cx="397764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6" name="Shape 24"/>
          <p:cNvSpPr/>
          <p:nvPr/>
        </p:nvSpPr>
        <p:spPr>
          <a:xfrm>
            <a:off x="502920" y="2688336"/>
            <a:ext cx="397764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7" name="Text 25"/>
          <p:cNvSpPr/>
          <p:nvPr/>
        </p:nvSpPr>
        <p:spPr>
          <a:xfrm>
            <a:off x="685800" y="2834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se izdvaja iz presuda</a:t>
            </a:r>
            <a:endParaRPr lang="sr-Latn-RS" sz="1300" noProof="1"/>
          </a:p>
        </p:txBody>
      </p:sp>
      <p:sp>
        <p:nvSpPr>
          <p:cNvPr id="28" name="Text 26"/>
          <p:cNvSpPr/>
          <p:nvPr/>
        </p:nvSpPr>
        <p:spPr>
          <a:xfrm>
            <a:off x="685800" y="3273552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Metapodaci: broj predmeta, sud, datum, sudije, stranke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Faktično stanje: tip povrede, oružje, posledice, motiv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Ishod: osuđen / oslobođen / odbijeno / ukinuto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Primenjeni članovi i zakoni, pravni koncepti</a:t>
            </a:r>
            <a:endParaRPr lang="sr-Latn-RS" sz="1200" noProof="1"/>
          </a:p>
        </p:txBody>
      </p:sp>
      <p:sp>
        <p:nvSpPr>
          <p:cNvPr id="29" name="Shape 27"/>
          <p:cNvSpPr/>
          <p:nvPr/>
        </p:nvSpPr>
        <p:spPr>
          <a:xfrm>
            <a:off x="4663440" y="2688336"/>
            <a:ext cx="397764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397764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1" name="Text 29"/>
          <p:cNvSpPr/>
          <p:nvPr/>
        </p:nvSpPr>
        <p:spPr>
          <a:xfrm>
            <a:off x="4846320" y="2834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Kontrola kvaliteta toka</a:t>
            </a:r>
            <a:endParaRPr lang="sr-Latn-RS" sz="1300" noProof="1"/>
          </a:p>
        </p:txBody>
      </p:sp>
      <p:sp>
        <p:nvSpPr>
          <p:cNvPr id="32" name="Text 30"/>
          <p:cNvSpPr/>
          <p:nvPr/>
        </p:nvSpPr>
        <p:spPr>
          <a:xfrm>
            <a:off x="4846320" y="3273552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Idempotentna logika – ponavljanje toka bez duplikata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poređenje stare i nove vrednosti po polju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Post-validacija XML korpusa – kritični problemi ≈ 0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Ručni override: pravnik ima poslednju reč</a:t>
            </a:r>
            <a:endParaRPr lang="sr-Latn-RS" sz="12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LLM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konfiguracija i robustnost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2514600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251460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Text 6"/>
          <p:cNvSpPr/>
          <p:nvPr/>
        </p:nvSpPr>
        <p:spPr>
          <a:xfrm>
            <a:off x="667512" y="140817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Podržani provajderi</a:t>
            </a:r>
            <a:endParaRPr lang="sr-Latn-RS" sz="1350" noProof="1"/>
          </a:p>
        </p:txBody>
      </p:sp>
      <p:sp>
        <p:nvSpPr>
          <p:cNvPr id="9" name="Text 7"/>
          <p:cNvSpPr/>
          <p:nvPr/>
        </p:nvSpPr>
        <p:spPr>
          <a:xfrm>
            <a:off x="667512" y="1920240"/>
            <a:ext cx="218541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(gpt-4o-mini podrazumevano)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– alternativni provajder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Models – fallback opcija</a:t>
            </a:r>
            <a:endParaRPr lang="sr-Latn-RS" sz="1200" noProof="1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514600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1" name="Shape 9"/>
          <p:cNvSpPr/>
          <p:nvPr/>
        </p:nvSpPr>
        <p:spPr>
          <a:xfrm>
            <a:off x="3246120" y="1261872"/>
            <a:ext cx="25146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2" name="Text 10"/>
          <p:cNvSpPr/>
          <p:nvPr/>
        </p:nvSpPr>
        <p:spPr>
          <a:xfrm>
            <a:off x="3410712" y="140817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Mrežna politika</a:t>
            </a:r>
            <a:endParaRPr lang="sr-Latn-RS" sz="1350" noProof="1"/>
          </a:p>
        </p:txBody>
      </p:sp>
      <p:sp>
        <p:nvSpPr>
          <p:cNvPr id="13" name="Text 11"/>
          <p:cNvSpPr/>
          <p:nvPr/>
        </p:nvSpPr>
        <p:spPr>
          <a:xfrm>
            <a:off x="3410712" y="1920240"/>
            <a:ext cx="218541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– max zahteva/min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razmaka između poziva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exponential backoff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po pozivu</a:t>
            </a:r>
            <a:endParaRPr lang="sr-Latn-RS" sz="1200" noProof="1"/>
          </a:p>
        </p:txBody>
      </p:sp>
      <p:sp>
        <p:nvSpPr>
          <p:cNvPr id="14" name="Shape 12"/>
          <p:cNvSpPr/>
          <p:nvPr/>
        </p:nvSpPr>
        <p:spPr>
          <a:xfrm>
            <a:off x="5989320" y="1261872"/>
            <a:ext cx="2514600" cy="34930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5" name="Shape 13"/>
          <p:cNvSpPr/>
          <p:nvPr/>
        </p:nvSpPr>
        <p:spPr>
          <a:xfrm>
            <a:off x="5989320" y="1261872"/>
            <a:ext cx="251460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6" name="Text 14"/>
          <p:cNvSpPr/>
          <p:nvPr/>
        </p:nvSpPr>
        <p:spPr>
          <a:xfrm>
            <a:off x="6153912" y="140817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Izlazna disciplina</a:t>
            </a:r>
            <a:endParaRPr lang="sr-Latn-RS" sz="1350" noProof="1"/>
          </a:p>
        </p:txBody>
      </p:sp>
      <p:sp>
        <p:nvSpPr>
          <p:cNvPr id="17" name="Text 15"/>
          <p:cNvSpPr/>
          <p:nvPr/>
        </p:nvSpPr>
        <p:spPr>
          <a:xfrm>
            <a:off x="6153912" y="1920240"/>
            <a:ext cx="218541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 JSON bez slobodnog teksta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Strogo definisana polja u shemi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Zabrana markdown-a u odgovorima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Post-validacija pre prihvatanja</a:t>
            </a:r>
            <a:endParaRPr lang="sr-Latn-R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STRATEGIJA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Prompt: anotacija zakona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5029200" cy="35478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667512" y="1371600"/>
            <a:ext cx="470001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 si ekspert za pravnu informatiku.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Anotiraj član {article_number}.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Analiziraj sadržaj i vrati SAMO JSON: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"norm_type": "&lt;prohibition|obligation|permission|...&gt;",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"subjects": ["perpetrator|victim|official|..."],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"conditions": ["intent|negligence|consent|..."],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"sanctions": {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"&lt;prison|fine|both&gt;",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"min_value": &lt;broj&gt;,  "max_value": &lt;broj&gt;,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"min_unit": "&lt;years|months&gt;",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"details": "&lt;opis&gt;"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"references": [...],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"legal_concepts": [...],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"qualifiers": { "aggravated": bool,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"special_conditions": ["..."] },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&lt;0.0-1.0&gt;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Vrati SAMO validan JSON bez dodatnog teksta.</a:t>
            </a:r>
            <a:endParaRPr lang="sr-Latn-RS" sz="950" noProof="1"/>
          </a:p>
        </p:txBody>
      </p:sp>
      <p:sp>
        <p:nvSpPr>
          <p:cNvPr id="8" name="Shape 6"/>
          <p:cNvSpPr/>
          <p:nvPr/>
        </p:nvSpPr>
        <p:spPr>
          <a:xfrm>
            <a:off x="5669280" y="1261872"/>
            <a:ext cx="2971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5669280" y="1261872"/>
            <a:ext cx="29718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5852160" y="13716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norm_type</a:t>
            </a:r>
            <a:endParaRPr lang="sr-Latn-RS" sz="1200" noProof="1"/>
          </a:p>
        </p:txBody>
      </p:sp>
      <p:sp>
        <p:nvSpPr>
          <p:cNvPr id="11" name="Text 9"/>
          <p:cNvSpPr/>
          <p:nvPr/>
        </p:nvSpPr>
        <p:spPr>
          <a:xfrm>
            <a:off x="5852160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Taksativna lista tipova – model ne može izmisliti novi</a:t>
            </a:r>
            <a:endParaRPr lang="sr-Latn-RS" sz="1100" noProof="1"/>
          </a:p>
        </p:txBody>
      </p:sp>
      <p:sp>
        <p:nvSpPr>
          <p:cNvPr id="12" name="Shape 10"/>
          <p:cNvSpPr/>
          <p:nvPr/>
        </p:nvSpPr>
        <p:spPr>
          <a:xfrm>
            <a:off x="5669280" y="2505456"/>
            <a:ext cx="2971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Shape 11"/>
          <p:cNvSpPr/>
          <p:nvPr/>
        </p:nvSpPr>
        <p:spPr>
          <a:xfrm>
            <a:off x="5669280" y="2505456"/>
            <a:ext cx="29718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5852160" y="26151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sr-Latn-RS" sz="1200" noProof="1"/>
          </a:p>
        </p:txBody>
      </p:sp>
      <p:sp>
        <p:nvSpPr>
          <p:cNvPr id="15" name="Text 13"/>
          <p:cNvSpPr/>
          <p:nvPr/>
        </p:nvSpPr>
        <p:spPr>
          <a:xfrm>
            <a:off x="5852160" y="298094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signal pouzdanosti – koristi se za dampening u CBR-u</a:t>
            </a:r>
            <a:endParaRPr lang="sr-Latn-RS" sz="1100" noProof="1"/>
          </a:p>
        </p:txBody>
      </p:sp>
      <p:sp>
        <p:nvSpPr>
          <p:cNvPr id="16" name="Shape 14"/>
          <p:cNvSpPr/>
          <p:nvPr/>
        </p:nvSpPr>
        <p:spPr>
          <a:xfrm>
            <a:off x="5669280" y="3749040"/>
            <a:ext cx="2971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7" name="Shape 15"/>
          <p:cNvSpPr/>
          <p:nvPr/>
        </p:nvSpPr>
        <p:spPr>
          <a:xfrm>
            <a:off x="5669280" y="3749040"/>
            <a:ext cx="29718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Text 16"/>
          <p:cNvSpPr/>
          <p:nvPr/>
        </p:nvSpPr>
        <p:spPr>
          <a:xfrm>
            <a:off x="5852160" y="3858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qualifiers</a:t>
            </a:r>
            <a:endParaRPr lang="sr-Latn-RS" sz="1200" noProof="1"/>
          </a:p>
        </p:txBody>
      </p:sp>
      <p:sp>
        <p:nvSpPr>
          <p:cNvPr id="19" name="Text 17"/>
          <p:cNvSpPr/>
          <p:nvPr/>
        </p:nvSpPr>
        <p:spPr>
          <a:xfrm>
            <a:off x="585216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Aggravated/mitigated direktno ulaze u sankcioni kalkulator</a:t>
            </a:r>
            <a:endParaRPr lang="sr-Latn-RS" sz="11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STRATEGIJA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Prompt: anotacija presuda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5029200" cy="35478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667512" y="1371600"/>
            <a:ext cx="470001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Analiziraj presudu i vrati isključivo validan JSON.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Obavezna polja: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verdict_summary, legal_issues, applied_laws,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applied_articles, legal_reasoning, decision,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case_outcome, legal_concepts, precedent_value,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confidence, metadata, factual_state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 case_number, court_name, date,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judges, parties, organizations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 judges: nominativ, bez OCR artefakata,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bez tokena 'kao' / 'dana' / 'optuženog'.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Vijećni panel: [X, Y, Z] – svi sudije.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case_outcome: osudjen|oslobodjen|odbijeno|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usvojeno|ukinuto|nepoznato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PRESUDA {case_number}: {context}</a:t>
            </a:r>
            <a:endParaRPr lang="sr-Latn-RS" sz="950" noProof="1"/>
          </a:p>
        </p:txBody>
      </p:sp>
      <p:sp>
        <p:nvSpPr>
          <p:cNvPr id="8" name="Shape 6"/>
          <p:cNvSpPr/>
          <p:nvPr/>
        </p:nvSpPr>
        <p:spPr>
          <a:xfrm>
            <a:off x="5669280" y="1261872"/>
            <a:ext cx="2971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5669280" y="1261872"/>
            <a:ext cx="297180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5852160" y="13716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judges (nominativ)</a:t>
            </a:r>
            <a:endParaRPr lang="sr-Latn-RS" sz="1150" noProof="1"/>
          </a:p>
        </p:txBody>
      </p:sp>
      <p:sp>
        <p:nvSpPr>
          <p:cNvPr id="11" name="Text 9"/>
          <p:cNvSpPr/>
          <p:nvPr/>
        </p:nvSpPr>
        <p:spPr>
          <a:xfrm>
            <a:off x="5852160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padežnih deformacija – sistem eksplicitno traži nominativ</a:t>
            </a:r>
            <a:endParaRPr lang="sr-Latn-RS" sz="1100" noProof="1"/>
          </a:p>
        </p:txBody>
      </p:sp>
      <p:sp>
        <p:nvSpPr>
          <p:cNvPr id="12" name="Shape 10"/>
          <p:cNvSpPr/>
          <p:nvPr/>
        </p:nvSpPr>
        <p:spPr>
          <a:xfrm>
            <a:off x="5669280" y="2505456"/>
            <a:ext cx="2971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Shape 11"/>
          <p:cNvSpPr/>
          <p:nvPr/>
        </p:nvSpPr>
        <p:spPr>
          <a:xfrm>
            <a:off x="5669280" y="2505456"/>
            <a:ext cx="297180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5852160" y="26151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case_outcome (enum)</a:t>
            </a:r>
            <a:endParaRPr lang="sr-Latn-RS" sz="1150" noProof="1"/>
          </a:p>
        </p:txBody>
      </p:sp>
      <p:sp>
        <p:nvSpPr>
          <p:cNvPr id="15" name="Text 13"/>
          <p:cNvSpPr/>
          <p:nvPr/>
        </p:nvSpPr>
        <p:spPr>
          <a:xfrm>
            <a:off x="5852160" y="298094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Kontrolisani skup vrednosti – sprečava slobodne odgovore modela</a:t>
            </a:r>
            <a:endParaRPr lang="sr-Latn-RS" sz="1100" noProof="1"/>
          </a:p>
        </p:txBody>
      </p:sp>
      <p:sp>
        <p:nvSpPr>
          <p:cNvPr id="16" name="Shape 14"/>
          <p:cNvSpPr/>
          <p:nvPr/>
        </p:nvSpPr>
        <p:spPr>
          <a:xfrm>
            <a:off x="5669280" y="3749040"/>
            <a:ext cx="2971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7" name="Shape 15"/>
          <p:cNvSpPr/>
          <p:nvPr/>
        </p:nvSpPr>
        <p:spPr>
          <a:xfrm>
            <a:off x="5669280" y="3749040"/>
            <a:ext cx="297180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Text 16"/>
          <p:cNvSpPr/>
          <p:nvPr/>
        </p:nvSpPr>
        <p:spPr>
          <a:xfrm>
            <a:off x="5852160" y="3858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2D3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factual_state</a:t>
            </a:r>
            <a:endParaRPr lang="sr-Latn-RS" sz="1150" noProof="1"/>
          </a:p>
        </p:txBody>
      </p:sp>
      <p:sp>
        <p:nvSpPr>
          <p:cNvPr id="19" name="Text 17"/>
          <p:cNvSpPr/>
          <p:nvPr/>
        </p:nvSpPr>
        <p:spPr>
          <a:xfrm>
            <a:off x="585216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Strukturirane pravne činjenice za CBR atribute sličnosti</a:t>
            </a:r>
            <a:endParaRPr lang="sr-Latn-RS" sz="11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STRATEGIJA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Prompt: OCR Repair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4937760" cy="35478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667512" y="1371600"/>
            <a:ext cx="460857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Iz verdict_annotator.py:105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Vrati ISKLJUČIVO validan JSON formata: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{"replacements":[{"from":"...","to":"..."}]}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Zadatak: ispravi samo OCR/spacing artefakte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bez promjene značenja, padeža ili reda riječi.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Dozvoljene promjene: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dodavanje/uklanjanje razmaka između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već postojećih slova.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 mijenjaj interpunkciju osim razmaka.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 mijenjaj inicijale tipa N.R.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Ako nisi siguran, preskoči taj unos.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CASE: {case_number}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KANDIDATI:</a:t>
            </a:r>
            <a:endParaRPr lang="sr-Latn-RS" sz="950" noProof="1"/>
          </a:p>
          <a:p>
            <a:pPr marL="0" indent="0">
              <a:buNone/>
            </a:pP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{candidate}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{context}</a:t>
            </a:r>
            <a:endParaRPr lang="sr-Latn-RS" sz="950" noProof="1"/>
          </a:p>
          <a:p>
            <a:pPr marL="0" indent="0">
              <a:buNone/>
            </a:pPr>
            <a:r>
              <a:rPr lang="sr-Latn-RS" sz="95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(ponavlja se po kandidatu)</a:t>
            </a:r>
            <a:endParaRPr lang="sr-Latn-RS" sz="950" noProof="1"/>
          </a:p>
        </p:txBody>
      </p:sp>
      <p:sp>
        <p:nvSpPr>
          <p:cNvPr id="8" name="Shape 6"/>
          <p:cNvSpPr/>
          <p:nvPr/>
        </p:nvSpPr>
        <p:spPr>
          <a:xfrm>
            <a:off x="5623560" y="1261872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5623560" y="1261872"/>
            <a:ext cx="301752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580644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Princip: prvo ne škodi</a:t>
            </a:r>
            <a:endParaRPr lang="sr-Latn-RS" sz="1200" noProof="1"/>
          </a:p>
        </p:txBody>
      </p:sp>
      <p:sp>
        <p:nvSpPr>
          <p:cNvPr id="11" name="Text 9"/>
          <p:cNvSpPr/>
          <p:nvPr/>
        </p:nvSpPr>
        <p:spPr>
          <a:xfrm>
            <a:off x="5806440" y="161007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Maksimalno konzervativno rezonovanje</a:t>
            </a:r>
            <a:endParaRPr lang="sr-Latn-RS" sz="1100" noProof="1"/>
          </a:p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promene značenja ili redosleda</a:t>
            </a:r>
            <a:endParaRPr lang="sr-Latn-RS" sz="1100" noProof="1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Shape 11"/>
          <p:cNvSpPr/>
          <p:nvPr/>
        </p:nvSpPr>
        <p:spPr>
          <a:xfrm>
            <a:off x="5623560" y="2505456"/>
            <a:ext cx="301752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5806440" y="26151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je dozvoljeno</a:t>
            </a:r>
            <a:endParaRPr lang="sr-Latn-RS" sz="1200" noProof="1"/>
          </a:p>
        </p:txBody>
      </p:sp>
      <p:sp>
        <p:nvSpPr>
          <p:cNvPr id="15" name="Text 13"/>
          <p:cNvSpPr/>
          <p:nvPr/>
        </p:nvSpPr>
        <p:spPr>
          <a:xfrm>
            <a:off x="5806440" y="288950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Dodavanje/uklanjanje razmaka između slova</a:t>
            </a:r>
            <a:endParaRPr lang="sr-Latn-RS" sz="1100" noProof="1"/>
          </a:p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Ništa više – nema promene znakova</a:t>
            </a:r>
            <a:endParaRPr lang="sr-Latn-RS" sz="1100" noProof="1"/>
          </a:p>
        </p:txBody>
      </p:sp>
      <p:sp>
        <p:nvSpPr>
          <p:cNvPr id="16" name="Shape 14"/>
          <p:cNvSpPr/>
          <p:nvPr/>
        </p:nvSpPr>
        <p:spPr>
          <a:xfrm>
            <a:off x="5623560" y="3749040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7" name="Shape 15"/>
          <p:cNvSpPr/>
          <p:nvPr/>
        </p:nvSpPr>
        <p:spPr>
          <a:xfrm>
            <a:off x="5623560" y="3749040"/>
            <a:ext cx="301752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Text 16"/>
          <p:cNvSpPr/>
          <p:nvPr/>
        </p:nvSpPr>
        <p:spPr>
          <a:xfrm>
            <a:off x="5806440" y="3858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nije dozvoljeno</a:t>
            </a:r>
            <a:endParaRPr lang="sr-Latn-RS" sz="1200" noProof="1"/>
          </a:p>
        </p:txBody>
      </p:sp>
      <p:sp>
        <p:nvSpPr>
          <p:cNvPr id="19" name="Text 17"/>
          <p:cNvSpPr/>
          <p:nvPr/>
        </p:nvSpPr>
        <p:spPr>
          <a:xfrm>
            <a:off x="5806440" y="408127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Promena interpunkcije osim razmaka</a:t>
            </a:r>
            <a:endParaRPr lang="sr-Latn-RS" sz="1100" noProof="1"/>
          </a:p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Promena inicijala tipa N.R.</a:t>
            </a:r>
            <a:endParaRPr lang="sr-Latn-RS" sz="1100" noProof="1"/>
          </a:p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Slobodna interpretacija</a:t>
            </a:r>
            <a:endParaRPr lang="sr-Latn-RS" sz="11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STRATEGIJA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Prompt: Generisanje presude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4937760" cy="35478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667512" y="1371600"/>
            <a:ext cx="460857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Iz prompt_builder.py:49</a:t>
            </a:r>
            <a:endParaRPr lang="sr-Latn-RS" sz="870" noProof="1"/>
          </a:p>
          <a:p>
            <a:pPr marL="0" indent="0">
              <a:buNone/>
            </a:pP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Generisi novu sudsku presudu na srpskom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(latinica, bez markdowna).</a:t>
            </a:r>
            <a:endParaRPr lang="sr-Latn-RS" sz="870" noProof="1"/>
          </a:p>
          <a:p>
            <a:pPr marL="0" indent="0">
              <a:buNone/>
            </a:pP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Presuda mora da sledi strukturu crnogorskih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presuda i da sadrzi: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naziv suda, broj predmeta i datum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izraz 'U IME CRNE GORE'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naslov 'P R E S U D U'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opis okrivljenog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izreku (kriv je / nije kriv) + članke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sankciju, kratko obrazlozenje, pravnu pouku</a:t>
            </a:r>
            <a:endParaRPr lang="sr-Latn-RS" sz="870" noProof="1"/>
          </a:p>
          <a:p>
            <a:pPr marL="0" indent="0">
              <a:buNone/>
            </a:pP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Broj predmeta: {case_number}  Sud: {court_name}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Datum: {date_value}  Sudija/e: {judges}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Okrivljeni: {facts.defendant}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 povrede: {facts.injury_type}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Oruzje: {facts.weapon}  Upotrebljeno: {weapon_used}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Smrtni ishod: {death_result}  Nehat: {negligence}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Primenjeni clanci: {applied_articles}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Predlog presude: {verdict_line}</a:t>
            </a: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Slicni slucajevi: {similar_cases}</a:t>
            </a:r>
            <a:endParaRPr lang="sr-Latn-RS" sz="870" noProof="1"/>
          </a:p>
          <a:p>
            <a:pPr marL="0" indent="0">
              <a:buNone/>
            </a:pPr>
            <a:endParaRPr lang="sr-Latn-RS" sz="870" noProof="1"/>
          </a:p>
          <a:p>
            <a:pPr marL="0" indent="0">
              <a:buNone/>
            </a:pPr>
            <a:r>
              <a:rPr lang="sr-Latn-RS" sz="870" noProof="1">
                <a:solidFill>
                  <a:srgbClr val="94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Vrati samo kompletan tekst presude.</a:t>
            </a:r>
            <a:endParaRPr lang="sr-Latn-RS" sz="870" noProof="1"/>
          </a:p>
        </p:txBody>
      </p:sp>
      <p:sp>
        <p:nvSpPr>
          <p:cNvPr id="8" name="Shape 6"/>
          <p:cNvSpPr/>
          <p:nvPr/>
        </p:nvSpPr>
        <p:spPr>
          <a:xfrm>
            <a:off x="5623560" y="1261872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5623560" y="1261872"/>
            <a:ext cx="301752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580644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Kontekst ugrađen</a:t>
            </a:r>
            <a:endParaRPr lang="sr-Latn-RS" sz="1200" noProof="1"/>
          </a:p>
        </p:txBody>
      </p:sp>
      <p:sp>
        <p:nvSpPr>
          <p:cNvPr id="11" name="Text 9"/>
          <p:cNvSpPr/>
          <p:nvPr/>
        </p:nvSpPr>
        <p:spPr>
          <a:xfrm>
            <a:off x="5806440" y="162026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Činjenice + norme + slični slučajevi – eksplicitno ubačeno</a:t>
            </a:r>
            <a:endParaRPr lang="sr-Latn-RS" sz="1100" noProof="1"/>
          </a:p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Formalna struktura crnogorske presude</a:t>
            </a:r>
            <a:endParaRPr lang="sr-Latn-RS" sz="1100" noProof="1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Shape 11"/>
          <p:cNvSpPr/>
          <p:nvPr/>
        </p:nvSpPr>
        <p:spPr>
          <a:xfrm>
            <a:off x="5623560" y="2505456"/>
            <a:ext cx="301752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5806440" y="26151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Idempotentnost</a:t>
            </a:r>
            <a:endParaRPr lang="sr-Latn-RS" sz="1200" noProof="1"/>
          </a:p>
        </p:txBody>
      </p:sp>
      <p:sp>
        <p:nvSpPr>
          <p:cNvPr id="15" name="Text 13"/>
          <p:cNvSpPr/>
          <p:nvPr/>
        </p:nvSpPr>
        <p:spPr>
          <a:xfrm>
            <a:off x="5806440" y="286867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Provjera identiteta pre čuvanja</a:t>
            </a:r>
            <a:endParaRPr lang="sr-Latn-RS" sz="1100" noProof="1"/>
          </a:p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Sprečava gomilanje gotovo istih nacrta</a:t>
            </a:r>
            <a:endParaRPr lang="sr-Latn-RS" sz="1100" noProof="1"/>
          </a:p>
        </p:txBody>
      </p:sp>
      <p:sp>
        <p:nvSpPr>
          <p:cNvPr id="16" name="Shape 14"/>
          <p:cNvSpPr/>
          <p:nvPr/>
        </p:nvSpPr>
        <p:spPr>
          <a:xfrm>
            <a:off x="5623560" y="3749040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7" name="Shape 15"/>
          <p:cNvSpPr/>
          <p:nvPr/>
        </p:nvSpPr>
        <p:spPr>
          <a:xfrm>
            <a:off x="5623560" y="3749040"/>
            <a:ext cx="301752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Text 16"/>
          <p:cNvSpPr/>
          <p:nvPr/>
        </p:nvSpPr>
        <p:spPr>
          <a:xfrm>
            <a:off x="5806440" y="3858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Radni materijal</a:t>
            </a:r>
            <a:endParaRPr lang="sr-Latn-RS" sz="1200" noProof="1"/>
          </a:p>
        </p:txBody>
      </p:sp>
      <p:sp>
        <p:nvSpPr>
          <p:cNvPr id="19" name="Text 17"/>
          <p:cNvSpPr/>
          <p:nvPr/>
        </p:nvSpPr>
        <p:spPr>
          <a:xfrm>
            <a:off x="5806440" y="409397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Dvostepeni tok: plan → tekst → post-validacija</a:t>
            </a:r>
            <a:endParaRPr lang="sr-Latn-RS" sz="1100" noProof="1"/>
          </a:p>
          <a:p>
            <a:pPr marL="342900" indent="-342900">
              <a:buSzPct val="100000"/>
              <a:buChar char="•"/>
            </a:pPr>
            <a:r>
              <a:rPr lang="sr-Latn-RS" sz="11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Pravnik ima pravo da uredi, ne mora prihvatiti</a:t>
            </a:r>
            <a:endParaRPr lang="sr-Latn-RS" sz="11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REZONOVANJE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Reasoning – dr-device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pic>
        <p:nvPicPr>
          <p:cNvPr id="6" name="Image 0" descr="/home/claude/diagra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853375" y="1179576"/>
            <a:ext cx="2590929" cy="367131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859EA3B-7074-5CAE-D516-763608FD63CD}"/>
              </a:ext>
            </a:extLst>
          </p:cNvPr>
          <p:cNvGrpSpPr/>
          <p:nvPr/>
        </p:nvGrpSpPr>
        <p:grpSpPr>
          <a:xfrm>
            <a:off x="4572000" y="1293876"/>
            <a:ext cx="4069080" cy="3419853"/>
            <a:chOff x="4663440" y="1261872"/>
            <a:chExt cx="3977640" cy="2651760"/>
          </a:xfrm>
        </p:grpSpPr>
        <p:sp>
          <p:nvSpPr>
            <p:cNvPr id="7" name="Shape 4"/>
            <p:cNvSpPr/>
            <p:nvPr/>
          </p:nvSpPr>
          <p:spPr>
            <a:xfrm>
              <a:off x="4663440" y="1261872"/>
              <a:ext cx="3977640" cy="822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8" name="Shape 5"/>
            <p:cNvSpPr/>
            <p:nvPr/>
          </p:nvSpPr>
          <p:spPr>
            <a:xfrm>
              <a:off x="4663440" y="1261872"/>
              <a:ext cx="3977640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9" name="Text 6"/>
            <p:cNvSpPr/>
            <p:nvPr/>
          </p:nvSpPr>
          <p:spPr>
            <a:xfrm>
              <a:off x="4846320" y="1335024"/>
              <a:ext cx="14630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150" b="1" noProof="1">
                  <a:solidFill>
                    <a:srgbClr val="1A23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Šta provjerava</a:t>
              </a:r>
              <a:endParaRPr lang="sr-Latn-RS" sz="1150" noProof="1"/>
            </a:p>
          </p:txBody>
        </p:sp>
        <p:sp>
          <p:nvSpPr>
            <p:cNvPr id="10" name="Text 7"/>
            <p:cNvSpPr/>
            <p:nvPr/>
          </p:nvSpPr>
          <p:spPr>
            <a:xfrm>
              <a:off x="6492240" y="1371600"/>
              <a:ext cx="196596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0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Svaki uslov norme formalno evaluiran · AND/OR logika iz LegalRuleML-a · Defeat relacije između suprotstavljenih normi</a:t>
              </a:r>
              <a:endParaRPr lang="sr-Latn-RS" sz="1050" noProof="1"/>
            </a:p>
          </p:txBody>
        </p:sp>
        <p:sp>
          <p:nvSpPr>
            <p:cNvPr id="11" name="Shape 8"/>
            <p:cNvSpPr/>
            <p:nvPr/>
          </p:nvSpPr>
          <p:spPr>
            <a:xfrm>
              <a:off x="4663440" y="2176272"/>
              <a:ext cx="3977640" cy="822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2" name="Shape 9"/>
            <p:cNvSpPr/>
            <p:nvPr/>
          </p:nvSpPr>
          <p:spPr>
            <a:xfrm>
              <a:off x="4663440" y="2176272"/>
              <a:ext cx="3977640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3" name="Text 10"/>
            <p:cNvSpPr/>
            <p:nvPr/>
          </p:nvSpPr>
          <p:spPr>
            <a:xfrm>
              <a:off x="4846320" y="2249424"/>
              <a:ext cx="14630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150" b="1" noProof="1">
                  <a:solidFill>
                    <a:srgbClr val="1A23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Šta vraća</a:t>
              </a:r>
              <a:endParaRPr lang="sr-Latn-RS" sz="1150" noProof="1"/>
            </a:p>
          </p:txBody>
        </p:sp>
        <p:sp>
          <p:nvSpPr>
            <p:cNvPr id="14" name="Text 11"/>
            <p:cNvSpPr/>
            <p:nvPr/>
          </p:nvSpPr>
          <p:spPr>
            <a:xfrm>
              <a:off x="6492240" y="2286000"/>
              <a:ext cx="196596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0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Lista aktiviranih normi · Koji uslovi su ispunjeni / nisu ispunjeni · Normativni osnov za predlog ishoda</a:t>
              </a:r>
              <a:endParaRPr lang="sr-Latn-RS" sz="1050" noProof="1"/>
            </a:p>
          </p:txBody>
        </p:sp>
        <p:sp>
          <p:nvSpPr>
            <p:cNvPr id="15" name="Shape 12"/>
            <p:cNvSpPr/>
            <p:nvPr/>
          </p:nvSpPr>
          <p:spPr>
            <a:xfrm>
              <a:off x="4663440" y="3090672"/>
              <a:ext cx="3977640" cy="822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6" name="Shape 13"/>
            <p:cNvSpPr/>
            <p:nvPr/>
          </p:nvSpPr>
          <p:spPr>
            <a:xfrm>
              <a:off x="4663440" y="3090672"/>
              <a:ext cx="3977640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7" name="Text 14"/>
            <p:cNvSpPr/>
            <p:nvPr/>
          </p:nvSpPr>
          <p:spPr>
            <a:xfrm>
              <a:off x="4846320" y="3163824"/>
              <a:ext cx="14630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150" b="1" noProof="1">
                  <a:solidFill>
                    <a:srgbClr val="1A23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Sigurnosni sloj</a:t>
              </a:r>
              <a:endParaRPr lang="sr-Latn-RS" sz="1150" noProof="1"/>
            </a:p>
          </p:txBody>
        </p:sp>
        <p:sp>
          <p:nvSpPr>
            <p:cNvPr id="18" name="Text 15"/>
            <p:cNvSpPr/>
            <p:nvPr/>
          </p:nvSpPr>
          <p:spPr>
            <a:xfrm>
              <a:off x="6492240" y="3200400"/>
              <a:ext cx="196596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0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Ulaz se validira pre pokretanja pravila · Fizički nemoguće kombinacije → odbijanje · Slabi ulaz → niži confidence, ne halucinacija</a:t>
              </a:r>
              <a:endParaRPr lang="sr-Latn-RS" sz="1050" noProof="1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REZONOVANJE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Case-Based Reasoning – jColibri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416052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416052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Text 6"/>
          <p:cNvSpPr/>
          <p:nvPr/>
        </p:nvSpPr>
        <p:spPr>
          <a:xfrm>
            <a:off x="685800" y="140817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atributa sličnosti</a:t>
            </a:r>
            <a:endParaRPr lang="sr-Latn-RS" sz="1400" noProof="1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Vrsta povrede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Lokacija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Oružje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Oružje korišćeno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Teška posledica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 smrti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Nemar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Provokacija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Učešće u tuči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Posledica tuče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Ostavljen bez pomoći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Sporazum o prizn. krivice</a:t>
            </a:r>
            <a:endParaRPr lang="sr-Latn-RS" sz="1050" noProof="1"/>
          </a:p>
        </p:txBody>
      </p:sp>
      <p:sp>
        <p:nvSpPr>
          <p:cNvPr id="10" name="Text 8"/>
          <p:cNvSpPr/>
          <p:nvPr/>
        </p:nvSpPr>
        <p:spPr>
          <a:xfrm>
            <a:off x="2651760" y="187452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Ponovljeni prestupnik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Priznanje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Kajanje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Otežavajuće okolnosti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Olakšavajuće okolnosti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Porodične okolnosti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Loš finansijski status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Alkoholna intoksikacija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Uticaj narkotika</a:t>
            </a:r>
            <a:endParaRPr lang="sr-Latn-RS" sz="1050" noProof="1"/>
          </a:p>
          <a:p>
            <a:pPr marL="342900" indent="-342900">
              <a:buSzPct val="100000"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Pokušaj kriv. </a:t>
            </a:r>
            <a:r>
              <a:rPr lang="en-U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Prethodne osuđivanosti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sr-Latn-RS" sz="10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Zahtev za uslovnu kaznu</a:t>
            </a:r>
            <a:endParaRPr lang="sr-Latn-RS" sz="1050" noProof="1"/>
          </a:p>
        </p:txBody>
      </p:sp>
      <p:sp>
        <p:nvSpPr>
          <p:cNvPr id="11" name="Shape 9"/>
          <p:cNvSpPr/>
          <p:nvPr/>
        </p:nvSpPr>
        <p:spPr>
          <a:xfrm>
            <a:off x="4800600" y="1261872"/>
            <a:ext cx="384048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2" name="Shape 10"/>
          <p:cNvSpPr/>
          <p:nvPr/>
        </p:nvSpPr>
        <p:spPr>
          <a:xfrm>
            <a:off x="4800600" y="1261872"/>
            <a:ext cx="384048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3" name="Text 11"/>
          <p:cNvSpPr/>
          <p:nvPr/>
        </p:nvSpPr>
        <p:spPr>
          <a:xfrm>
            <a:off x="4983480" y="1408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Metodološke odluke</a:t>
            </a:r>
            <a:endParaRPr lang="sr-Latn-RS" sz="1350" noProof="1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474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Sličnost normalizovana po aktivnim atributima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Nepoznato ≠ negativno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Blaga semantička tolerancija (sinonimija)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Rangiranje opadajuće</a:t>
            </a:r>
            <a:endParaRPr lang="sr-Latn-RS" sz="1200" noProof="1"/>
          </a:p>
        </p:txBody>
      </p:sp>
      <p:sp>
        <p:nvSpPr>
          <p:cNvPr id="15" name="Shape 13"/>
          <p:cNvSpPr/>
          <p:nvPr/>
        </p:nvSpPr>
        <p:spPr>
          <a:xfrm>
            <a:off x="4800600" y="3127248"/>
            <a:ext cx="3840480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6" name="Shape 14"/>
          <p:cNvSpPr/>
          <p:nvPr/>
        </p:nvSpPr>
        <p:spPr>
          <a:xfrm>
            <a:off x="4800600" y="3127248"/>
            <a:ext cx="384048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7" name="Text 15"/>
          <p:cNvSpPr/>
          <p:nvPr/>
        </p:nvSpPr>
        <p:spPr>
          <a:xfrm>
            <a:off x="4983480" y="3273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Upravljanje bazom</a:t>
            </a:r>
            <a:endParaRPr lang="sr-Latn-RS" sz="1350" noProof="1"/>
          </a:p>
        </p:txBody>
      </p:sp>
      <p:sp>
        <p:nvSpPr>
          <p:cNvPr id="18" name="Text 16"/>
          <p:cNvSpPr/>
          <p:nvPr/>
        </p:nvSpPr>
        <p:spPr>
          <a:xfrm>
            <a:off x="4983480" y="363931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Dedupl. pre upisivanja novog slučaja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Indeksiranje čestih atributa upita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Normalizacija bool i tekstualnih vrednosti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iz XML korpusa (harmonizacija)</a:t>
            </a:r>
            <a:endParaRPr lang="sr-Latn-RS" sz="12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REZONOVANJE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politika – spajanje rezultata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138160" cy="1078992"/>
          </a:xfrm>
          <a:prstGeom prst="rect">
            <a:avLst/>
          </a:prstGeom>
          <a:solidFill>
            <a:srgbClr val="EAFAF1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54864" cy="107899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Text 6"/>
          <p:cNvSpPr/>
          <p:nvPr/>
        </p:nvSpPr>
        <p:spPr>
          <a:xfrm>
            <a:off x="704088" y="1261872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800" b="1" noProof="1">
                <a:solidFill>
                  <a:srgbClr val="22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sr-Latn-RS" sz="2800" noProof="1"/>
          </a:p>
        </p:txBody>
      </p:sp>
      <p:sp>
        <p:nvSpPr>
          <p:cNvPr id="9" name="Text 7"/>
          <p:cNvSpPr/>
          <p:nvPr/>
        </p:nvSpPr>
        <p:spPr>
          <a:xfrm>
            <a:off x="1307592" y="1371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b="1" noProof="1">
                <a:solidFill>
                  <a:srgbClr val="22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Saglasnost</a:t>
            </a:r>
            <a:endParaRPr lang="sr-Latn-RS" sz="1400" noProof="1"/>
          </a:p>
        </p:txBody>
      </p:sp>
      <p:sp>
        <p:nvSpPr>
          <p:cNvPr id="10" name="Text 8"/>
          <p:cNvSpPr/>
          <p:nvPr/>
        </p:nvSpPr>
        <p:spPr>
          <a:xfrm>
            <a:off x="1307592" y="1810512"/>
            <a:ext cx="7150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 CBR pokazuju isti pravac → visok confidence, jak predlog</a:t>
            </a:r>
            <a:endParaRPr lang="sr-Latn-RS" sz="1300" noProof="1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8138160" cy="1078992"/>
          </a:xfrm>
          <a:prstGeom prst="rect">
            <a:avLst/>
          </a:prstGeom>
          <a:solidFill>
            <a:srgbClr val="FDED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54864" cy="10789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3" name="Text 11"/>
          <p:cNvSpPr/>
          <p:nvPr/>
        </p:nvSpPr>
        <p:spPr>
          <a:xfrm>
            <a:off x="704088" y="2468880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800" b="1" noProof="1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sr-Latn-RS" sz="2800" noProof="1"/>
          </a:p>
        </p:txBody>
      </p:sp>
      <p:sp>
        <p:nvSpPr>
          <p:cNvPr id="14" name="Text 12"/>
          <p:cNvSpPr/>
          <p:nvPr/>
        </p:nvSpPr>
        <p:spPr>
          <a:xfrm>
            <a:off x="1307592" y="25786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b="1" noProof="1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Konflikt</a:t>
            </a:r>
            <a:endParaRPr lang="sr-Latn-RS" sz="1400" noProof="1"/>
          </a:p>
        </p:txBody>
      </p:sp>
      <p:sp>
        <p:nvSpPr>
          <p:cNvPr id="15" name="Text 13"/>
          <p:cNvSpPr/>
          <p:nvPr/>
        </p:nvSpPr>
        <p:spPr>
          <a:xfrm>
            <a:off x="1307592" y="3017520"/>
            <a:ext cx="7150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Pravilo i analogija u suprotnosti → oprezni ishod, niži confidence, korisnik upozoren</a:t>
            </a:r>
            <a:endParaRPr lang="sr-Latn-RS" sz="1300" noProof="1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8138160" cy="1078992"/>
          </a:xfrm>
          <a:prstGeom prst="rect">
            <a:avLst/>
          </a:prstGeom>
          <a:solidFill>
            <a:srgbClr val="FEF9E7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7" name="Shape 15"/>
          <p:cNvSpPr/>
          <p:nvPr/>
        </p:nvSpPr>
        <p:spPr>
          <a:xfrm>
            <a:off x="502920" y="3675888"/>
            <a:ext cx="54864" cy="1078992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Text 16"/>
          <p:cNvSpPr/>
          <p:nvPr/>
        </p:nvSpPr>
        <p:spPr>
          <a:xfrm>
            <a:off x="704088" y="3675888"/>
            <a:ext cx="548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800" b="1" noProof="1">
                <a:solidFill>
                  <a:srgbClr val="A88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sr-Latn-RS" sz="2800" noProof="1"/>
          </a:p>
        </p:txBody>
      </p:sp>
      <p:sp>
        <p:nvSpPr>
          <p:cNvPr id="19" name="Text 17"/>
          <p:cNvSpPr/>
          <p:nvPr/>
        </p:nvSpPr>
        <p:spPr>
          <a:xfrm>
            <a:off x="1307592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b="1" noProof="1">
                <a:solidFill>
                  <a:srgbClr val="A88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Slab ulaz</a:t>
            </a:r>
            <a:endParaRPr lang="sr-Latn-RS" sz="1400" noProof="1"/>
          </a:p>
        </p:txBody>
      </p:sp>
      <p:sp>
        <p:nvSpPr>
          <p:cNvPr id="20" name="Text 18"/>
          <p:cNvSpPr/>
          <p:nvPr/>
        </p:nvSpPr>
        <p:spPr>
          <a:xfrm>
            <a:off x="1307592" y="4224528"/>
            <a:ext cx="7150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Previše nepoznatih činjenica → dampening sličnosti, sistem ne glumi sigurnost</a:t>
            </a:r>
            <a:endParaRPr lang="sr-Latn-RS" sz="13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LLM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Gdje LLM radi dobro – i gdje ne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97764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3977640" cy="6400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Text 6"/>
          <p:cNvSpPr/>
          <p:nvPr/>
        </p:nvSpPr>
        <p:spPr>
          <a:xfrm>
            <a:off x="685800" y="14081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b="1" noProof="1">
                <a:solidFill>
                  <a:srgbClr val="155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 dobro kada...</a:t>
            </a:r>
            <a:endParaRPr lang="sr-Latn-RS" sz="1400" noProof="1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je formatno strog sa jasnom JSON shemom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 signal u tekstu: datumi, procesni elementi, standardni sudski jezik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Izlazna polja su jasno unapred definisana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Savršena preciznost i odziv za pojedina polja na evaluacionom skupu</a:t>
            </a:r>
            <a:endParaRPr lang="sr-Latn-RS" sz="1250" noProof="1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397764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397764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2" name="Text 10"/>
          <p:cNvSpPr/>
          <p:nvPr/>
        </p:nvSpPr>
        <p:spPr>
          <a:xfrm>
            <a:off x="4846320" y="14081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400" b="1" noProof="1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 slabije kada...</a:t>
            </a:r>
            <a:endParaRPr lang="sr-Latn-RS" sz="1400" noProof="1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oštećen OCR-om – greške u tokenizaciji pravnih fraza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Sudije navedene samo inicijalima (nedostatak u izvoru, ne greška modela)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Visoka implicitnost i pravna dvosmislenost iskaza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može biti prekomjerno samouvjeren → zato postoji fallback</a:t>
            </a:r>
            <a:endParaRPr lang="sr-Latn-RS" sz="125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UI: pregled zakona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4640031-E621-2DB3-2D26-27EA8F1BC15F}"/>
              </a:ext>
            </a:extLst>
          </p:cNvPr>
          <p:cNvGrpSpPr/>
          <p:nvPr/>
        </p:nvGrpSpPr>
        <p:grpSpPr>
          <a:xfrm>
            <a:off x="5623560" y="1856232"/>
            <a:ext cx="3017520" cy="804672"/>
            <a:chOff x="5623560" y="1261872"/>
            <a:chExt cx="3017520" cy="804672"/>
          </a:xfrm>
        </p:grpSpPr>
        <p:sp>
          <p:nvSpPr>
            <p:cNvPr id="8" name="Shape 6"/>
            <p:cNvSpPr/>
            <p:nvPr/>
          </p:nvSpPr>
          <p:spPr>
            <a:xfrm>
              <a:off x="5623560" y="1261872"/>
              <a:ext cx="301752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9" name="Shape 7"/>
            <p:cNvSpPr/>
            <p:nvPr/>
          </p:nvSpPr>
          <p:spPr>
            <a:xfrm>
              <a:off x="5623560" y="1261872"/>
              <a:ext cx="3017520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0" name="Text 8"/>
            <p:cNvSpPr/>
            <p:nvPr/>
          </p:nvSpPr>
          <p:spPr>
            <a:xfrm>
              <a:off x="5806440" y="1353312"/>
              <a:ext cx="26517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200" b="1" noProof="1">
                  <a:solidFill>
                    <a:srgbClr val="1A23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Pregled zakona</a:t>
              </a:r>
              <a:endParaRPr lang="sr-Latn-RS" sz="1200" noProof="1"/>
            </a:p>
          </p:txBody>
        </p:sp>
        <p:sp>
          <p:nvSpPr>
            <p:cNvPr id="11" name="Text 9"/>
            <p:cNvSpPr/>
            <p:nvPr/>
          </p:nvSpPr>
          <p:spPr>
            <a:xfrm>
              <a:off x="5806440" y="1682496"/>
              <a:ext cx="26517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0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Navigacija po poglavljima i članovima, pretraga sadržaja, bez sirovog XML-a</a:t>
              </a:r>
              <a:endParaRPr lang="sr-Latn-RS" sz="1050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56DEAE4-42C3-E2BD-0F44-02C7022F4F82}"/>
              </a:ext>
            </a:extLst>
          </p:cNvPr>
          <p:cNvGrpSpPr/>
          <p:nvPr/>
        </p:nvGrpSpPr>
        <p:grpSpPr>
          <a:xfrm>
            <a:off x="5623560" y="3076956"/>
            <a:ext cx="3017520" cy="804672"/>
            <a:chOff x="5623560" y="2157984"/>
            <a:chExt cx="3017520" cy="804672"/>
          </a:xfrm>
        </p:grpSpPr>
        <p:sp>
          <p:nvSpPr>
            <p:cNvPr id="12" name="Shape 10"/>
            <p:cNvSpPr/>
            <p:nvPr/>
          </p:nvSpPr>
          <p:spPr>
            <a:xfrm>
              <a:off x="5623560" y="2157984"/>
              <a:ext cx="301752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3" name="Shape 11"/>
            <p:cNvSpPr/>
            <p:nvPr/>
          </p:nvSpPr>
          <p:spPr>
            <a:xfrm>
              <a:off x="5623560" y="2157984"/>
              <a:ext cx="3017520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4" name="Text 12"/>
            <p:cNvSpPr/>
            <p:nvPr/>
          </p:nvSpPr>
          <p:spPr>
            <a:xfrm>
              <a:off x="5806440" y="2249424"/>
              <a:ext cx="26517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200" b="1" noProof="1">
                  <a:solidFill>
                    <a:srgbClr val="1A23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Navigacija referencama</a:t>
              </a:r>
              <a:endParaRPr lang="sr-Latn-RS" sz="1200" noProof="1"/>
            </a:p>
          </p:txBody>
        </p:sp>
        <p:sp>
          <p:nvSpPr>
            <p:cNvPr id="15" name="Text 13"/>
            <p:cNvSpPr/>
            <p:nvPr/>
          </p:nvSpPr>
          <p:spPr>
            <a:xfrm>
              <a:off x="5806440" y="2578608"/>
              <a:ext cx="26517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0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Klik na referencirani član → skok na normu u zakonu → povratak u kontekst</a:t>
              </a:r>
              <a:endParaRPr lang="sr-Latn-RS" sz="1050" noProof="1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6DC50B3B-E38B-94F5-B9B9-B4727998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6083"/>
            <a:ext cx="4434840" cy="3494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UI: pregled sudskih odluka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619F09-CF12-334F-6C0E-D3B495FBBBEF}"/>
              </a:ext>
            </a:extLst>
          </p:cNvPr>
          <p:cNvGrpSpPr/>
          <p:nvPr/>
        </p:nvGrpSpPr>
        <p:grpSpPr>
          <a:xfrm>
            <a:off x="6126480" y="1831086"/>
            <a:ext cx="2514600" cy="804672"/>
            <a:chOff x="6126480" y="1261872"/>
            <a:chExt cx="2514600" cy="804672"/>
          </a:xfrm>
        </p:grpSpPr>
        <p:sp>
          <p:nvSpPr>
            <p:cNvPr id="8" name="Shape 6"/>
            <p:cNvSpPr/>
            <p:nvPr/>
          </p:nvSpPr>
          <p:spPr>
            <a:xfrm>
              <a:off x="6126480" y="1261872"/>
              <a:ext cx="251460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9" name="Shape 7"/>
            <p:cNvSpPr/>
            <p:nvPr/>
          </p:nvSpPr>
          <p:spPr>
            <a:xfrm>
              <a:off x="6126480" y="1261872"/>
              <a:ext cx="2514600" cy="64008"/>
            </a:xfrm>
            <a:prstGeom prst="rect">
              <a:avLst/>
            </a:prstGeom>
            <a:solidFill>
              <a:srgbClr val="1A5276"/>
            </a:solidFill>
            <a:ln w="12700">
              <a:solidFill>
                <a:srgbClr val="1A5276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0" name="Text 8"/>
            <p:cNvSpPr/>
            <p:nvPr/>
          </p:nvSpPr>
          <p:spPr>
            <a:xfrm>
              <a:off x="6278880" y="1353312"/>
              <a:ext cx="2209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200" b="1" noProof="1">
                  <a:solidFill>
                    <a:srgbClr val="1A23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Pregled presuda</a:t>
              </a:r>
              <a:endParaRPr lang="sr-Latn-RS" sz="1200" noProof="1"/>
            </a:p>
          </p:txBody>
        </p:sp>
        <p:sp>
          <p:nvSpPr>
            <p:cNvPr id="11" name="Text 9"/>
            <p:cNvSpPr/>
            <p:nvPr/>
          </p:nvSpPr>
          <p:spPr>
            <a:xfrm>
              <a:off x="6278880" y="1682496"/>
              <a:ext cx="22098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0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Lista predmeta → detalj → metapodaci + izvučene činjenice</a:t>
              </a:r>
              <a:endParaRPr lang="sr-Latn-RS" sz="1050" noProof="1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4740685-6AEF-1576-45B3-FABBEF742081}"/>
              </a:ext>
            </a:extLst>
          </p:cNvPr>
          <p:cNvGrpSpPr/>
          <p:nvPr/>
        </p:nvGrpSpPr>
        <p:grpSpPr>
          <a:xfrm>
            <a:off x="6126480" y="3113532"/>
            <a:ext cx="2514600" cy="804672"/>
            <a:chOff x="6126480" y="3950208"/>
            <a:chExt cx="2514600" cy="804672"/>
          </a:xfrm>
        </p:grpSpPr>
        <p:sp>
          <p:nvSpPr>
            <p:cNvPr id="20" name="Shape 18"/>
            <p:cNvSpPr/>
            <p:nvPr/>
          </p:nvSpPr>
          <p:spPr>
            <a:xfrm>
              <a:off x="6126480" y="3950208"/>
              <a:ext cx="2514600" cy="804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21" name="Shape 19"/>
            <p:cNvSpPr/>
            <p:nvPr/>
          </p:nvSpPr>
          <p:spPr>
            <a:xfrm>
              <a:off x="6126480" y="3950208"/>
              <a:ext cx="2514600" cy="64008"/>
            </a:xfrm>
            <a:prstGeom prst="rect">
              <a:avLst/>
            </a:prstGeom>
            <a:solidFill>
              <a:srgbClr val="1A5276"/>
            </a:solidFill>
            <a:ln w="12700">
              <a:solidFill>
                <a:srgbClr val="1A5276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22" name="Text 20"/>
            <p:cNvSpPr/>
            <p:nvPr/>
          </p:nvSpPr>
          <p:spPr>
            <a:xfrm>
              <a:off x="6278880" y="4041648"/>
              <a:ext cx="2209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200" b="1" noProof="1">
                  <a:solidFill>
                    <a:srgbClr val="1A23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Korekcije &amp; audit</a:t>
              </a:r>
              <a:endParaRPr lang="sr-Latn-RS" sz="1200" noProof="1"/>
            </a:p>
          </p:txBody>
        </p:sp>
        <p:sp>
          <p:nvSpPr>
            <p:cNvPr id="23" name="Text 21"/>
            <p:cNvSpPr/>
            <p:nvPr/>
          </p:nvSpPr>
          <p:spPr>
            <a:xfrm>
              <a:off x="6278880" y="4370832"/>
              <a:ext cx="22098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0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Ručni override vrednosti po polju + vremenski trag promjena</a:t>
              </a:r>
              <a:endParaRPr lang="sr-Latn-RS" sz="1050" noProof="1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EADF19F-A7A8-7E66-6AE2-9AB9E0350D02}"/>
              </a:ext>
            </a:extLst>
          </p:cNvPr>
          <p:cNvGrpSpPr/>
          <p:nvPr/>
        </p:nvGrpSpPr>
        <p:grpSpPr>
          <a:xfrm>
            <a:off x="502920" y="1371600"/>
            <a:ext cx="5382625" cy="3182112"/>
            <a:chOff x="506207" y="1746506"/>
            <a:chExt cx="5490409" cy="2322572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2680F89-C3DB-BD85-B4CD-85AEDCF82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6207" y="1746506"/>
              <a:ext cx="2741190" cy="23225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64F26DF-66B1-F8A4-28A5-2C10C79A0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7397" y="1746506"/>
              <a:ext cx="2749219" cy="23225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UI: forma za unos pravnih atributa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AD0CBC-9676-F972-5085-77388200B9E8}"/>
              </a:ext>
            </a:extLst>
          </p:cNvPr>
          <p:cNvGrpSpPr/>
          <p:nvPr/>
        </p:nvGrpSpPr>
        <p:grpSpPr>
          <a:xfrm>
            <a:off x="6155791" y="1408886"/>
            <a:ext cx="2485288" cy="3291129"/>
            <a:chOff x="6155791" y="1261872"/>
            <a:chExt cx="2485288" cy="3438144"/>
          </a:xfrm>
        </p:grpSpPr>
        <p:sp>
          <p:nvSpPr>
            <p:cNvPr id="8" name="Shape 6"/>
            <p:cNvSpPr/>
            <p:nvPr/>
          </p:nvSpPr>
          <p:spPr>
            <a:xfrm>
              <a:off x="6155791" y="1261872"/>
              <a:ext cx="2485288" cy="34054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9" name="Shape 7"/>
            <p:cNvSpPr/>
            <p:nvPr/>
          </p:nvSpPr>
          <p:spPr>
            <a:xfrm>
              <a:off x="6155791" y="1261872"/>
              <a:ext cx="2485288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0" name="Text 8"/>
            <p:cNvSpPr/>
            <p:nvPr/>
          </p:nvSpPr>
          <p:spPr>
            <a:xfrm>
              <a:off x="6274157" y="1408176"/>
              <a:ext cx="2184041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sr-Latn-RS" sz="1300" b="1" noProof="1">
                  <a:solidFill>
                    <a:srgbClr val="1A234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Ulazna forma – pravni atributi</a:t>
              </a:r>
              <a:endParaRPr lang="sr-Latn-RS" sz="1300" noProof="1"/>
            </a:p>
          </p:txBody>
        </p:sp>
        <p:sp>
          <p:nvSpPr>
            <p:cNvPr id="11" name="Text 9"/>
            <p:cNvSpPr/>
            <p:nvPr/>
          </p:nvSpPr>
          <p:spPr>
            <a:xfrm>
              <a:off x="6274157" y="1865376"/>
              <a:ext cx="2184041" cy="2834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buSzPct val="100000"/>
                <a:buChar char="•"/>
              </a:pPr>
              <a:r>
                <a:rPr lang="sr-Latn-RS" sz="1150" noProof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Tip povrede (vrsta i lokalizacija)</a:t>
              </a:r>
              <a:endParaRPr lang="sr-Latn-RS" sz="1150" noProof="1"/>
            </a:p>
            <a:p>
              <a:pPr marL="342900" indent="-342900">
                <a:buSzPct val="100000"/>
                <a:buChar char="•"/>
              </a:pPr>
              <a:r>
                <a:rPr lang="sr-Latn-RS" sz="1150" noProof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Način izvršenja / oružje</a:t>
              </a:r>
              <a:endParaRPr lang="sr-Latn-RS" sz="1150" noProof="1"/>
            </a:p>
            <a:p>
              <a:pPr marL="342900" indent="-342900">
                <a:buSzPct val="100000"/>
                <a:buChar char="•"/>
              </a:pPr>
              <a:r>
                <a:rPr lang="sr-Latn-RS" sz="1150" noProof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Motiv izvršioca</a:t>
              </a:r>
              <a:endParaRPr lang="sr-Latn-RS" sz="1150" noProof="1"/>
            </a:p>
            <a:p>
              <a:pPr marL="342900" indent="-342900">
                <a:buSzPct val="100000"/>
                <a:buChar char="•"/>
              </a:pPr>
              <a:r>
                <a:rPr lang="sr-Latn-RS" sz="1150" noProof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Status žrtve (dijete, službeno lice...)</a:t>
              </a:r>
              <a:endParaRPr lang="sr-Latn-RS" sz="1150" noProof="1"/>
            </a:p>
            <a:p>
              <a:pPr marL="342900" indent="-342900">
                <a:buSzPct val="100000"/>
                <a:buChar char="•"/>
              </a:pPr>
              <a:r>
                <a:rPr lang="sr-Latn-RS" sz="1150" noProof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Posledice (teška tel. povreda, smrt...)</a:t>
              </a:r>
              <a:endParaRPr lang="sr-Latn-RS" sz="1150" noProof="1"/>
            </a:p>
            <a:p>
              <a:pPr marL="342900" indent="-342900">
                <a:buSzPct val="100000"/>
                <a:buChar char="•"/>
              </a:pPr>
              <a:r>
                <a:rPr lang="sr-Latn-RS" sz="1150" noProof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Elementi krivice (umišljaj, nehat)</a:t>
              </a:r>
              <a:endParaRPr lang="sr-Latn-RS" sz="1150" noProof="1"/>
            </a:p>
            <a:p>
              <a:pPr marL="342900" indent="-342900">
                <a:buSzPct val="100000"/>
                <a:buChar char="•"/>
              </a:pPr>
              <a:r>
                <a:rPr lang="sr-Latn-RS" sz="1150" noProof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Otežavajuće i olakšavajuće okolnosti</a:t>
              </a:r>
              <a:endParaRPr lang="en-US" sz="11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buSzPct val="100000"/>
                <a:buChar char="•"/>
              </a:pPr>
              <a:r>
                <a:rPr lang="en-US" sz="1150" noProof="1">
                  <a:solidFill>
                    <a:srgbClr val="1A23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Itd.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17AE71-8851-5D10-AA5F-299BA1BF2BEE}"/>
              </a:ext>
            </a:extLst>
          </p:cNvPr>
          <p:cNvGrpSpPr/>
          <p:nvPr/>
        </p:nvGrpSpPr>
        <p:grpSpPr>
          <a:xfrm>
            <a:off x="502920" y="1404317"/>
            <a:ext cx="5364480" cy="3262982"/>
            <a:chOff x="139461" y="1549530"/>
            <a:chExt cx="5770522" cy="260300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02BE277-C08F-C076-4431-6DB939F57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461" y="1553176"/>
              <a:ext cx="2933192" cy="259935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7369282-38CD-04F7-9DB2-EB293C147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72653" y="1549530"/>
              <a:ext cx="2837330" cy="260300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UI: izlaz sistema za rezonovanje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Shape 6"/>
          <p:cNvSpPr/>
          <p:nvPr/>
        </p:nvSpPr>
        <p:spPr>
          <a:xfrm>
            <a:off x="6159138" y="1408176"/>
            <a:ext cx="2481942" cy="3259835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6159138" y="1408176"/>
            <a:ext cx="2481942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6277100" y="1554480"/>
            <a:ext cx="21810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Objedinjeni izlaz sistema</a:t>
            </a:r>
            <a:endParaRPr lang="sr-Latn-RS" sz="1300" noProof="1"/>
          </a:p>
        </p:txBody>
      </p:sp>
      <p:sp>
        <p:nvSpPr>
          <p:cNvPr id="11" name="Text 9"/>
          <p:cNvSpPr/>
          <p:nvPr/>
        </p:nvSpPr>
        <p:spPr>
          <a:xfrm>
            <a:off x="6277100" y="2011680"/>
            <a:ext cx="2181099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1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Normativni osnov: </a:t>
            </a:r>
            <a:r>
              <a:rPr lang="en-US" sz="11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sr-Latn-RS" sz="11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oje norme su aktivirane (rule reasoning)</a:t>
            </a:r>
            <a:endParaRPr lang="sr-Latn-RS" sz="1150" noProof="1"/>
          </a:p>
          <a:p>
            <a:pPr marL="342900" indent="-342900">
              <a:buSzPct val="100000"/>
              <a:buChar char="•"/>
            </a:pPr>
            <a:r>
              <a:rPr lang="sr-Latn-RS" sz="11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Najsličniji slučajevi sa stopom sličnosti</a:t>
            </a:r>
            <a:endParaRPr lang="sr-Latn-RS" sz="1150" noProof="1"/>
          </a:p>
          <a:p>
            <a:pPr marL="342900" indent="-342900">
              <a:buSzPct val="100000"/>
              <a:buChar char="•"/>
            </a:pPr>
            <a:r>
              <a:rPr lang="sr-Latn-RS" sz="11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Predlog ishoda i sankcija + confidence</a:t>
            </a:r>
            <a:endParaRPr lang="sr-Latn-RS" sz="1150" noProof="1"/>
          </a:p>
          <a:p>
            <a:pPr marL="342900" indent="-342900">
              <a:buSzPct val="100000"/>
              <a:buChar char="•"/>
            </a:pPr>
            <a:r>
              <a:rPr lang="sr-Latn-RS" sz="11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Potvrda → čuvanje u CBR bazi</a:t>
            </a:r>
            <a:endParaRPr lang="en-US" sz="1150" noProof="1">
              <a:solidFill>
                <a:srgbClr val="1A23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sr-Latn-RS" sz="11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za izmenu i generisanje presude</a:t>
            </a:r>
            <a:endParaRPr lang="sr-Latn-RS" sz="1150" noProof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EBE6B6-0F2A-FC15-33A5-30CA52659C0F}"/>
              </a:ext>
            </a:extLst>
          </p:cNvPr>
          <p:cNvGrpSpPr/>
          <p:nvPr/>
        </p:nvGrpSpPr>
        <p:grpSpPr>
          <a:xfrm>
            <a:off x="502920" y="1408176"/>
            <a:ext cx="5375366" cy="3242201"/>
            <a:chOff x="502920" y="1494428"/>
            <a:chExt cx="5120640" cy="287184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1CBA4EC-7450-D7DF-B8D8-1A1C22E23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920" y="1494428"/>
              <a:ext cx="2577058" cy="28699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A93174F-01E3-B692-F2B0-64A1E25A5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79978" y="1494428"/>
              <a:ext cx="2543582" cy="28718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UI: generisanje nacrta presude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Shape 6"/>
          <p:cNvSpPr/>
          <p:nvPr/>
        </p:nvSpPr>
        <p:spPr>
          <a:xfrm>
            <a:off x="5989320" y="1261872"/>
            <a:ext cx="26517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5989320" y="1261872"/>
            <a:ext cx="265176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6127864" y="1408176"/>
            <a:ext cx="23303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Dvostepeni tok generisanja</a:t>
            </a:r>
            <a:endParaRPr lang="sr-Latn-RS" sz="1300" noProof="1"/>
          </a:p>
        </p:txBody>
      </p:sp>
      <p:sp>
        <p:nvSpPr>
          <p:cNvPr id="11" name="Text 9"/>
          <p:cNvSpPr/>
          <p:nvPr/>
        </p:nvSpPr>
        <p:spPr>
          <a:xfrm>
            <a:off x="6127864" y="1865376"/>
            <a:ext cx="2330335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Korak 1: generisanje plana strukture presude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Korak 2: generisanje punog teksta na bazi plana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Korak 3: post-validacija konzistentnosti s rezonovanjem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Idempotentnost: provjera identiteta prije čuvanja</a:t>
            </a:r>
            <a:endParaRPr lang="sr-Latn-RS" sz="1200" noProof="1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265176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667511" y="4078224"/>
            <a:ext cx="23046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Kontekst ugrađen u prompt</a:t>
            </a:r>
            <a:endParaRPr lang="sr-Latn-RS" sz="1150" noProof="1"/>
          </a:p>
        </p:txBody>
      </p:sp>
      <p:sp>
        <p:nvSpPr>
          <p:cNvPr id="15" name="Text 13"/>
          <p:cNvSpPr/>
          <p:nvPr/>
        </p:nvSpPr>
        <p:spPr>
          <a:xfrm>
            <a:off x="667511" y="4425696"/>
            <a:ext cx="23046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Činjenice + norme + slični slučajevi – sve eksplicitno ubačeno</a:t>
            </a:r>
            <a:endParaRPr lang="sr-Latn-RS" sz="1050" noProof="1"/>
          </a:p>
        </p:txBody>
      </p:sp>
      <p:sp>
        <p:nvSpPr>
          <p:cNvPr id="16" name="Shape 14"/>
          <p:cNvSpPr/>
          <p:nvPr/>
        </p:nvSpPr>
        <p:spPr>
          <a:xfrm>
            <a:off x="3246120" y="397764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7" name="Shape 15"/>
          <p:cNvSpPr/>
          <p:nvPr/>
        </p:nvSpPr>
        <p:spPr>
          <a:xfrm>
            <a:off x="3246120" y="3977640"/>
            <a:ext cx="265176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8" name="Text 16"/>
          <p:cNvSpPr/>
          <p:nvPr/>
        </p:nvSpPr>
        <p:spPr>
          <a:xfrm>
            <a:off x="3410711" y="4078224"/>
            <a:ext cx="23046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Nije 'kreativno' pisanje</a:t>
            </a:r>
            <a:endParaRPr lang="sr-Latn-RS" sz="1150" noProof="1"/>
          </a:p>
        </p:txBody>
      </p:sp>
      <p:sp>
        <p:nvSpPr>
          <p:cNvPr id="19" name="Text 17"/>
          <p:cNvSpPr/>
          <p:nvPr/>
        </p:nvSpPr>
        <p:spPr>
          <a:xfrm>
            <a:off x="3410711" y="4425696"/>
            <a:ext cx="23046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Formalna struktura crnogorske presude, latinica, bez markdowna</a:t>
            </a:r>
            <a:endParaRPr lang="sr-Latn-RS" sz="1050" noProof="1"/>
          </a:p>
        </p:txBody>
      </p:sp>
      <p:sp>
        <p:nvSpPr>
          <p:cNvPr id="20" name="Shape 18"/>
          <p:cNvSpPr/>
          <p:nvPr/>
        </p:nvSpPr>
        <p:spPr>
          <a:xfrm>
            <a:off x="5989320" y="397764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1" name="Shape 19"/>
          <p:cNvSpPr/>
          <p:nvPr/>
        </p:nvSpPr>
        <p:spPr>
          <a:xfrm>
            <a:off x="5989320" y="3977640"/>
            <a:ext cx="265176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2" name="Text 20"/>
          <p:cNvSpPr/>
          <p:nvPr/>
        </p:nvSpPr>
        <p:spPr>
          <a:xfrm>
            <a:off x="6153911" y="4078224"/>
            <a:ext cx="23046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Radni materijal, ne final</a:t>
            </a:r>
            <a:endParaRPr lang="sr-Latn-RS" sz="1150" noProof="1"/>
          </a:p>
        </p:txBody>
      </p:sp>
      <p:sp>
        <p:nvSpPr>
          <p:cNvPr id="23" name="Text 21"/>
          <p:cNvSpPr/>
          <p:nvPr/>
        </p:nvSpPr>
        <p:spPr>
          <a:xfrm>
            <a:off x="6153911" y="4425696"/>
            <a:ext cx="23046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Pravnik ima pravo da uredi, ne mora prihvatiti automatski</a:t>
            </a:r>
            <a:endParaRPr lang="sr-Latn-RS" sz="1050" noProof="1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0A0A31-26B8-86C0-8FBB-7632F3E320C2}"/>
              </a:ext>
            </a:extLst>
          </p:cNvPr>
          <p:cNvGrpSpPr/>
          <p:nvPr/>
        </p:nvGrpSpPr>
        <p:grpSpPr>
          <a:xfrm>
            <a:off x="502920" y="1346876"/>
            <a:ext cx="5156200" cy="2362878"/>
            <a:chOff x="502920" y="1268730"/>
            <a:chExt cx="5569462" cy="260604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779B02B-F0F8-E7E5-5157-585A05E4D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920" y="1268730"/>
              <a:ext cx="2760345" cy="26060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12A8EB1-A861-C2EC-0CD8-5B0AFC689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3264" y="1268730"/>
              <a:ext cx="2809118" cy="260451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– pravno-analitički motor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251460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251460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Text 6"/>
          <p:cNvSpPr/>
          <p:nvPr/>
        </p:nvSpPr>
        <p:spPr>
          <a:xfrm>
            <a:off x="667512" y="140817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API obrađuje</a:t>
            </a:r>
            <a:endParaRPr lang="sr-Latn-RS" sz="1350" noProof="1"/>
          </a:p>
        </p:txBody>
      </p:sp>
      <p:sp>
        <p:nvSpPr>
          <p:cNvPr id="9" name="Text 7"/>
          <p:cNvSpPr/>
          <p:nvPr/>
        </p:nvSpPr>
        <p:spPr>
          <a:xfrm>
            <a:off x="667512" y="1920240"/>
            <a:ext cx="2185416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Upiti za zakon: poglavlja i članovi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Pretraga sadržaja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Učitavanje i filtriranje presuda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Spajanje auto+ručnih anotacija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Hibridno rezonovanje</a:t>
            </a:r>
            <a:endParaRPr lang="sr-Latn-RS" sz="1200" noProof="1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51460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1" name="Shape 9"/>
          <p:cNvSpPr/>
          <p:nvPr/>
        </p:nvSpPr>
        <p:spPr>
          <a:xfrm>
            <a:off x="3246120" y="1261872"/>
            <a:ext cx="25146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2" name="Text 10"/>
          <p:cNvSpPr/>
          <p:nvPr/>
        </p:nvSpPr>
        <p:spPr>
          <a:xfrm>
            <a:off x="3410712" y="140817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API vraća</a:t>
            </a:r>
            <a:endParaRPr lang="sr-Latn-RS" sz="1350" noProof="1"/>
          </a:p>
        </p:txBody>
      </p:sp>
      <p:sp>
        <p:nvSpPr>
          <p:cNvPr id="13" name="Text 11"/>
          <p:cNvSpPr/>
          <p:nvPr/>
        </p:nvSpPr>
        <p:spPr>
          <a:xfrm>
            <a:off x="3410712" y="1920240"/>
            <a:ext cx="2185416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podsistema (rule + CBR)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Predloženi ishod + sankcija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Normativni osnov (koje norme)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Slični slučajevi (rang + sličnost)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procjena</a:t>
            </a:r>
            <a:endParaRPr lang="sr-Latn-RS" sz="1200" noProof="1"/>
          </a:p>
        </p:txBody>
      </p:sp>
      <p:sp>
        <p:nvSpPr>
          <p:cNvPr id="14" name="Shape 12"/>
          <p:cNvSpPr/>
          <p:nvPr/>
        </p:nvSpPr>
        <p:spPr>
          <a:xfrm>
            <a:off x="5989320" y="1261872"/>
            <a:ext cx="251460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5" name="Shape 13"/>
          <p:cNvSpPr/>
          <p:nvPr/>
        </p:nvSpPr>
        <p:spPr>
          <a:xfrm>
            <a:off x="5989320" y="1261872"/>
            <a:ext cx="251460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6" name="Text 14"/>
          <p:cNvSpPr/>
          <p:nvPr/>
        </p:nvSpPr>
        <p:spPr>
          <a:xfrm>
            <a:off x="6153912" y="140817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Operativna zrelost</a:t>
            </a:r>
            <a:endParaRPr lang="sr-Latn-RS" sz="1350" noProof="1"/>
          </a:p>
        </p:txBody>
      </p:sp>
      <p:sp>
        <p:nvSpPr>
          <p:cNvPr id="17" name="Text 15"/>
          <p:cNvSpPr/>
          <p:nvPr/>
        </p:nvSpPr>
        <p:spPr>
          <a:xfrm>
            <a:off x="6153912" y="1920240"/>
            <a:ext cx="2185416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Standardizovani envelope grešaka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Korelacioni ID po zahtevu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Validacija ulaza pre rezonovanja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Istorija korekcija po polju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prije API sloja</a:t>
            </a:r>
            <a:endParaRPr lang="sr-Latn-RS" sz="12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Životni ciklus podataka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1099893" cy="23317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0998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2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sr-Latn-RS" sz="2200" noProof="1"/>
          </a:p>
        </p:txBody>
      </p:sp>
      <p:sp>
        <p:nvSpPr>
          <p:cNvPr id="8" name="Text 6"/>
          <p:cNvSpPr/>
          <p:nvPr/>
        </p:nvSpPr>
        <p:spPr>
          <a:xfrm>
            <a:off x="557784" y="1865376"/>
            <a:ext cx="9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Ulaz</a:t>
            </a:r>
            <a:endParaRPr lang="sr-Latn-RS" sz="1100" noProof="1"/>
          </a:p>
        </p:txBody>
      </p:sp>
      <p:sp>
        <p:nvSpPr>
          <p:cNvPr id="9" name="Text 7"/>
          <p:cNvSpPr/>
          <p:nvPr/>
        </p:nvSpPr>
        <p:spPr>
          <a:xfrm>
            <a:off x="557784" y="2359152"/>
            <a:ext cx="99016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unosi pravne činjenice kroz formu</a:t>
            </a:r>
            <a:endParaRPr lang="sr-Latn-RS" sz="950" noProof="1"/>
          </a:p>
        </p:txBody>
      </p:sp>
      <p:sp>
        <p:nvSpPr>
          <p:cNvPr id="10" name="Shape 8"/>
          <p:cNvSpPr/>
          <p:nvPr/>
        </p:nvSpPr>
        <p:spPr>
          <a:xfrm>
            <a:off x="1675965" y="1261872"/>
            <a:ext cx="1099893" cy="2331720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1" name="Text 9"/>
          <p:cNvSpPr/>
          <p:nvPr/>
        </p:nvSpPr>
        <p:spPr>
          <a:xfrm>
            <a:off x="1675965" y="1298448"/>
            <a:ext cx="10998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2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sr-Latn-RS" sz="2200" noProof="1"/>
          </a:p>
        </p:txBody>
      </p:sp>
      <p:sp>
        <p:nvSpPr>
          <p:cNvPr id="12" name="Text 10"/>
          <p:cNvSpPr/>
          <p:nvPr/>
        </p:nvSpPr>
        <p:spPr>
          <a:xfrm>
            <a:off x="1730829" y="1865376"/>
            <a:ext cx="9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Validacija</a:t>
            </a:r>
            <a:endParaRPr lang="sr-Latn-RS" sz="1100" noProof="1"/>
          </a:p>
        </p:txBody>
      </p:sp>
      <p:sp>
        <p:nvSpPr>
          <p:cNvPr id="13" name="Text 11"/>
          <p:cNvSpPr/>
          <p:nvPr/>
        </p:nvSpPr>
        <p:spPr>
          <a:xfrm>
            <a:off x="1730829" y="2359152"/>
            <a:ext cx="99016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Provjera praznog ulaza i nemogućih kombinacija</a:t>
            </a:r>
            <a:endParaRPr lang="sr-Latn-RS" sz="950" noProof="1"/>
          </a:p>
        </p:txBody>
      </p:sp>
      <p:sp>
        <p:nvSpPr>
          <p:cNvPr id="14" name="Shape 12"/>
          <p:cNvSpPr/>
          <p:nvPr/>
        </p:nvSpPr>
        <p:spPr>
          <a:xfrm>
            <a:off x="2849009" y="1261872"/>
            <a:ext cx="1099893" cy="2331720"/>
          </a:xfrm>
          <a:prstGeom prst="rect">
            <a:avLst/>
          </a:prstGeom>
          <a:solidFill>
            <a:srgbClr val="1A5276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5" name="Text 13"/>
          <p:cNvSpPr/>
          <p:nvPr/>
        </p:nvSpPr>
        <p:spPr>
          <a:xfrm>
            <a:off x="2849009" y="1298448"/>
            <a:ext cx="10998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2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sr-Latn-RS" sz="2200" noProof="1"/>
          </a:p>
        </p:txBody>
      </p:sp>
      <p:sp>
        <p:nvSpPr>
          <p:cNvPr id="16" name="Text 14"/>
          <p:cNvSpPr/>
          <p:nvPr/>
        </p:nvSpPr>
        <p:spPr>
          <a:xfrm>
            <a:off x="2903873" y="1865376"/>
            <a:ext cx="9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Rezonovanje</a:t>
            </a:r>
            <a:endParaRPr lang="sr-Latn-RS" sz="1100" noProof="1"/>
          </a:p>
        </p:txBody>
      </p:sp>
      <p:sp>
        <p:nvSpPr>
          <p:cNvPr id="17" name="Text 15"/>
          <p:cNvSpPr/>
          <p:nvPr/>
        </p:nvSpPr>
        <p:spPr>
          <a:xfrm>
            <a:off x="2903873" y="2359152"/>
            <a:ext cx="99016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+ CBR → objedinjeni rezultat</a:t>
            </a:r>
            <a:endParaRPr lang="sr-Latn-RS" sz="950" noProof="1"/>
          </a:p>
        </p:txBody>
      </p:sp>
      <p:sp>
        <p:nvSpPr>
          <p:cNvPr id="18" name="Shape 16"/>
          <p:cNvSpPr/>
          <p:nvPr/>
        </p:nvSpPr>
        <p:spPr>
          <a:xfrm>
            <a:off x="4022054" y="1261872"/>
            <a:ext cx="1099893" cy="2331720"/>
          </a:xfrm>
          <a:prstGeom prst="rect">
            <a:avLst/>
          </a:prstGeom>
          <a:solidFill>
            <a:srgbClr val="1A5276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9" name="Text 17"/>
          <p:cNvSpPr/>
          <p:nvPr/>
        </p:nvSpPr>
        <p:spPr>
          <a:xfrm>
            <a:off x="4022054" y="1298448"/>
            <a:ext cx="10998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2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sr-Latn-RS" sz="2200" noProof="1"/>
          </a:p>
        </p:txBody>
      </p:sp>
      <p:sp>
        <p:nvSpPr>
          <p:cNvPr id="20" name="Text 18"/>
          <p:cNvSpPr/>
          <p:nvPr/>
        </p:nvSpPr>
        <p:spPr>
          <a:xfrm>
            <a:off x="4076918" y="1865376"/>
            <a:ext cx="9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Potvrda</a:t>
            </a:r>
            <a:endParaRPr lang="sr-Latn-RS" sz="1100" noProof="1"/>
          </a:p>
        </p:txBody>
      </p:sp>
      <p:sp>
        <p:nvSpPr>
          <p:cNvPr id="21" name="Text 19"/>
          <p:cNvSpPr/>
          <p:nvPr/>
        </p:nvSpPr>
        <p:spPr>
          <a:xfrm>
            <a:off x="4076918" y="2359152"/>
            <a:ext cx="99016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prihvata ili koriguje predlog</a:t>
            </a:r>
            <a:endParaRPr lang="sr-Latn-RS" sz="950" noProof="1"/>
          </a:p>
        </p:txBody>
      </p:sp>
      <p:sp>
        <p:nvSpPr>
          <p:cNvPr id="22" name="Shape 20"/>
          <p:cNvSpPr/>
          <p:nvPr/>
        </p:nvSpPr>
        <p:spPr>
          <a:xfrm>
            <a:off x="5195098" y="1261872"/>
            <a:ext cx="1099893" cy="2331720"/>
          </a:xfrm>
          <a:prstGeom prst="rect">
            <a:avLst/>
          </a:prstGeom>
          <a:solidFill>
            <a:srgbClr val="A8874A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3" name="Text 21"/>
          <p:cNvSpPr/>
          <p:nvPr/>
        </p:nvSpPr>
        <p:spPr>
          <a:xfrm>
            <a:off x="5195098" y="1298448"/>
            <a:ext cx="10998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2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sr-Latn-RS" sz="2200" noProof="1"/>
          </a:p>
        </p:txBody>
      </p:sp>
      <p:sp>
        <p:nvSpPr>
          <p:cNvPr id="24" name="Text 22"/>
          <p:cNvSpPr/>
          <p:nvPr/>
        </p:nvSpPr>
        <p:spPr>
          <a:xfrm>
            <a:off x="5249962" y="1865376"/>
            <a:ext cx="9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Dedupl.</a:t>
            </a:r>
            <a:endParaRPr lang="sr-Latn-RS" sz="1100" noProof="1"/>
          </a:p>
        </p:txBody>
      </p:sp>
      <p:sp>
        <p:nvSpPr>
          <p:cNvPr id="25" name="Text 23"/>
          <p:cNvSpPr/>
          <p:nvPr/>
        </p:nvSpPr>
        <p:spPr>
          <a:xfrm>
            <a:off x="5249962" y="2359152"/>
            <a:ext cx="99016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provjerava postoji li suštinski isti slučaj</a:t>
            </a:r>
            <a:endParaRPr lang="sr-Latn-RS" sz="950" noProof="1"/>
          </a:p>
        </p:txBody>
      </p:sp>
      <p:sp>
        <p:nvSpPr>
          <p:cNvPr id="26" name="Shape 24"/>
          <p:cNvSpPr/>
          <p:nvPr/>
        </p:nvSpPr>
        <p:spPr>
          <a:xfrm>
            <a:off x="6368143" y="1261872"/>
            <a:ext cx="1099893" cy="2331720"/>
          </a:xfrm>
          <a:prstGeom prst="rect">
            <a:avLst/>
          </a:prstGeom>
          <a:solidFill>
            <a:srgbClr val="1A3A4A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7" name="Text 25"/>
          <p:cNvSpPr/>
          <p:nvPr/>
        </p:nvSpPr>
        <p:spPr>
          <a:xfrm>
            <a:off x="6368143" y="1298448"/>
            <a:ext cx="10998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2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sr-Latn-RS" sz="2200" noProof="1"/>
          </a:p>
        </p:txBody>
      </p:sp>
      <p:sp>
        <p:nvSpPr>
          <p:cNvPr id="28" name="Text 26"/>
          <p:cNvSpPr/>
          <p:nvPr/>
        </p:nvSpPr>
        <p:spPr>
          <a:xfrm>
            <a:off x="6423007" y="1865376"/>
            <a:ext cx="9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Čuvanje</a:t>
            </a:r>
            <a:endParaRPr lang="sr-Latn-RS" sz="1100" noProof="1"/>
          </a:p>
        </p:txBody>
      </p:sp>
      <p:sp>
        <p:nvSpPr>
          <p:cNvPr id="29" name="Text 27"/>
          <p:cNvSpPr/>
          <p:nvPr/>
        </p:nvSpPr>
        <p:spPr>
          <a:xfrm>
            <a:off x="6423007" y="2359152"/>
            <a:ext cx="99016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 slučaj upisuje se u CBR bazu</a:t>
            </a:r>
            <a:endParaRPr lang="sr-Latn-RS" sz="950" noProof="1"/>
          </a:p>
        </p:txBody>
      </p:sp>
      <p:sp>
        <p:nvSpPr>
          <p:cNvPr id="30" name="Shape 28"/>
          <p:cNvSpPr/>
          <p:nvPr/>
        </p:nvSpPr>
        <p:spPr>
          <a:xfrm>
            <a:off x="7541187" y="1261872"/>
            <a:ext cx="1099893" cy="2331720"/>
          </a:xfrm>
          <a:prstGeom prst="rect">
            <a:avLst/>
          </a:prstGeom>
          <a:solidFill>
            <a:srgbClr val="1A3A4A"/>
          </a:solidFill>
          <a:ln w="12700">
            <a:solidFill>
              <a:srgbClr val="2D3E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31" name="Text 29"/>
          <p:cNvSpPr/>
          <p:nvPr/>
        </p:nvSpPr>
        <p:spPr>
          <a:xfrm>
            <a:off x="7541187" y="1298448"/>
            <a:ext cx="10998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2200" b="1" noProof="1">
                <a:solidFill>
                  <a:srgbClr val="C9AA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sr-Latn-RS" sz="2200" noProof="1"/>
          </a:p>
        </p:txBody>
      </p:sp>
      <p:sp>
        <p:nvSpPr>
          <p:cNvPr id="32" name="Text 30"/>
          <p:cNvSpPr/>
          <p:nvPr/>
        </p:nvSpPr>
        <p:spPr>
          <a:xfrm>
            <a:off x="7596051" y="1865376"/>
            <a:ext cx="9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1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Ponovna upotreba</a:t>
            </a:r>
            <a:endParaRPr lang="sr-Latn-RS" sz="1100" noProof="1"/>
          </a:p>
        </p:txBody>
      </p:sp>
      <p:sp>
        <p:nvSpPr>
          <p:cNvPr id="33" name="Text 31"/>
          <p:cNvSpPr/>
          <p:nvPr/>
        </p:nvSpPr>
        <p:spPr>
          <a:xfrm>
            <a:off x="7596051" y="2359152"/>
            <a:ext cx="99016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50" noProof="1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Naredni CBR upiti automatski uključuju novi slučaj</a:t>
            </a:r>
            <a:endParaRPr lang="sr-Latn-RS" sz="950" noProof="1"/>
          </a:p>
        </p:txBody>
      </p:sp>
      <p:sp>
        <p:nvSpPr>
          <p:cNvPr id="34" name="Shape 32"/>
          <p:cNvSpPr/>
          <p:nvPr/>
        </p:nvSpPr>
        <p:spPr>
          <a:xfrm>
            <a:off x="502920" y="3767328"/>
            <a:ext cx="8138160" cy="1097280"/>
          </a:xfrm>
          <a:prstGeom prst="rect">
            <a:avLst/>
          </a:prstGeom>
          <a:solidFill>
            <a:srgbClr val="EEF2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5" name="Shape 33"/>
          <p:cNvSpPr/>
          <p:nvPr/>
        </p:nvSpPr>
        <p:spPr>
          <a:xfrm>
            <a:off x="502920" y="3767328"/>
            <a:ext cx="54864" cy="1097280"/>
          </a:xfrm>
          <a:prstGeom prst="rect">
            <a:avLst/>
          </a:prstGeom>
          <a:solidFill>
            <a:srgbClr val="C9AA71"/>
          </a:solidFill>
          <a:ln w="127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6" name="Text 34"/>
          <p:cNvSpPr/>
          <p:nvPr/>
        </p:nvSpPr>
        <p:spPr>
          <a:xfrm>
            <a:off x="704088" y="3822192"/>
            <a:ext cx="7845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00" i="1" noProof="1">
                <a:solidFill>
                  <a:srgbClr val="2D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nisu rezultat jedne sesije – postaju trajno znanje sistema. Svaka interakcija obogaćuje bazu slučajeva za naredna poređenja. Deduplikacija je metodološka odbrana kvaliteta CBR-a.</a:t>
            </a:r>
            <a:endParaRPr lang="sr-Latn-RS" sz="12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EVALUACIJA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Evaluacija i metrike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DB16A88-541C-0136-521B-492D80F2684D}"/>
              </a:ext>
            </a:extLst>
          </p:cNvPr>
          <p:cNvGrpSpPr/>
          <p:nvPr/>
        </p:nvGrpSpPr>
        <p:grpSpPr>
          <a:xfrm>
            <a:off x="1533906" y="1298448"/>
            <a:ext cx="6076188" cy="1508760"/>
            <a:chOff x="1479042" y="1298448"/>
            <a:chExt cx="6076188" cy="1508760"/>
          </a:xfrm>
        </p:grpSpPr>
        <p:sp>
          <p:nvSpPr>
            <p:cNvPr id="6" name="Shape 4"/>
            <p:cNvSpPr/>
            <p:nvPr/>
          </p:nvSpPr>
          <p:spPr>
            <a:xfrm>
              <a:off x="1479042" y="1298448"/>
              <a:ext cx="1952244" cy="15087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7" name="Shape 5"/>
            <p:cNvSpPr/>
            <p:nvPr/>
          </p:nvSpPr>
          <p:spPr>
            <a:xfrm>
              <a:off x="1479042" y="1298448"/>
              <a:ext cx="1952244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8" name="Text 6"/>
            <p:cNvSpPr/>
            <p:nvPr/>
          </p:nvSpPr>
          <p:spPr>
            <a:xfrm>
              <a:off x="1479042" y="1353312"/>
              <a:ext cx="1952244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sr-Latn-RS" sz="3000" b="1" noProof="1">
                  <a:solidFill>
                    <a:srgbClr val="2D3E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68</a:t>
              </a:r>
              <a:endParaRPr lang="sr-Latn-RS" sz="3000" noProof="1"/>
            </a:p>
          </p:txBody>
        </p:sp>
        <p:sp>
          <p:nvSpPr>
            <p:cNvPr id="9" name="Text 7"/>
            <p:cNvSpPr/>
            <p:nvPr/>
          </p:nvSpPr>
          <p:spPr>
            <a:xfrm>
              <a:off x="1552194" y="2121408"/>
              <a:ext cx="180594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sr-Latn-RS" sz="9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sinhronizovanih presuda (PDF=TXT=XML)</a:t>
              </a:r>
              <a:endParaRPr lang="sr-Latn-RS" sz="950" noProof="1"/>
            </a:p>
          </p:txBody>
        </p:sp>
        <p:sp>
          <p:nvSpPr>
            <p:cNvPr id="10" name="Shape 8"/>
            <p:cNvSpPr/>
            <p:nvPr/>
          </p:nvSpPr>
          <p:spPr>
            <a:xfrm>
              <a:off x="3541014" y="1298448"/>
              <a:ext cx="1952244" cy="15087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1" name="Shape 9"/>
            <p:cNvSpPr/>
            <p:nvPr/>
          </p:nvSpPr>
          <p:spPr>
            <a:xfrm>
              <a:off x="3541014" y="1298448"/>
              <a:ext cx="1952244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2" name="Text 10"/>
            <p:cNvSpPr/>
            <p:nvPr/>
          </p:nvSpPr>
          <p:spPr>
            <a:xfrm>
              <a:off x="3541014" y="1353312"/>
              <a:ext cx="1952244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sr-Latn-RS" sz="3000" b="1" noProof="1">
                  <a:solidFill>
                    <a:srgbClr val="2D3E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100%</a:t>
              </a:r>
              <a:endParaRPr lang="sr-Latn-RS" sz="3000" noProof="1"/>
            </a:p>
          </p:txBody>
        </p:sp>
        <p:sp>
          <p:nvSpPr>
            <p:cNvPr id="13" name="Text 11"/>
            <p:cNvSpPr/>
            <p:nvPr/>
          </p:nvSpPr>
          <p:spPr>
            <a:xfrm>
              <a:off x="3614166" y="2121408"/>
              <a:ext cx="180594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sr-Latn-RS" sz="9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pokrivenost XML korpusa – 0 kritičnih problema</a:t>
              </a:r>
              <a:endParaRPr lang="sr-Latn-RS" sz="950" noProof="1"/>
            </a:p>
          </p:txBody>
        </p:sp>
        <p:sp>
          <p:nvSpPr>
            <p:cNvPr id="14" name="Shape 12"/>
            <p:cNvSpPr/>
            <p:nvPr/>
          </p:nvSpPr>
          <p:spPr>
            <a:xfrm>
              <a:off x="5602986" y="1298448"/>
              <a:ext cx="1952244" cy="15087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1D9E6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5" name="Shape 13"/>
            <p:cNvSpPr/>
            <p:nvPr/>
          </p:nvSpPr>
          <p:spPr>
            <a:xfrm>
              <a:off x="5602986" y="1298448"/>
              <a:ext cx="1952244" cy="64008"/>
            </a:xfrm>
            <a:prstGeom prst="rect">
              <a:avLst/>
            </a:prstGeom>
            <a:solidFill>
              <a:srgbClr val="2D3E6B"/>
            </a:solidFill>
            <a:ln w="12700">
              <a:solidFill>
                <a:srgbClr val="2D3E6B"/>
              </a:solidFill>
              <a:prstDash val="solid"/>
            </a:ln>
          </p:spPr>
          <p:txBody>
            <a:bodyPr/>
            <a:lstStyle/>
            <a:p>
              <a:endParaRPr lang="sr-Latn-RS" noProof="1"/>
            </a:p>
          </p:txBody>
        </p:sp>
        <p:sp>
          <p:nvSpPr>
            <p:cNvPr id="16" name="Text 14"/>
            <p:cNvSpPr/>
            <p:nvPr/>
          </p:nvSpPr>
          <p:spPr>
            <a:xfrm>
              <a:off x="5602986" y="1353312"/>
              <a:ext cx="1952244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sr-Latn-RS" sz="3000" b="1" noProof="1">
                  <a:solidFill>
                    <a:srgbClr val="2D3E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sr-Latn-RS" sz="3000" noProof="1"/>
            </a:p>
          </p:txBody>
        </p:sp>
        <p:sp>
          <p:nvSpPr>
            <p:cNvPr id="17" name="Text 15"/>
            <p:cNvSpPr/>
            <p:nvPr/>
          </p:nvSpPr>
          <p:spPr>
            <a:xfrm>
              <a:off x="5676138" y="2121408"/>
              <a:ext cx="180594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sr-Latn-RS" sz="950" noProof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OCR grešaka na kontrolnom setu indikatora</a:t>
              </a:r>
              <a:endParaRPr lang="sr-Latn-RS" sz="950" noProof="1"/>
            </a:p>
          </p:txBody>
        </p:sp>
      </p:grpSp>
      <p:sp>
        <p:nvSpPr>
          <p:cNvPr id="22" name="Shape 20"/>
          <p:cNvSpPr/>
          <p:nvPr/>
        </p:nvSpPr>
        <p:spPr>
          <a:xfrm>
            <a:off x="502920" y="2944368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3" name="Shape 21"/>
          <p:cNvSpPr/>
          <p:nvPr/>
        </p:nvSpPr>
        <p:spPr>
          <a:xfrm>
            <a:off x="502920" y="2944368"/>
            <a:ext cx="265176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4" name="Text 22"/>
          <p:cNvSpPr/>
          <p:nvPr/>
        </p:nvSpPr>
        <p:spPr>
          <a:xfrm>
            <a:off x="667511" y="3072384"/>
            <a:ext cx="230462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Kalibracija sankcija</a:t>
            </a:r>
            <a:endParaRPr lang="sr-Latn-RS" sz="1300" noProof="1"/>
          </a:p>
        </p:txBody>
      </p:sp>
      <p:sp>
        <p:nvSpPr>
          <p:cNvPr id="25" name="Text 23"/>
          <p:cNvSpPr/>
          <p:nvPr/>
        </p:nvSpPr>
        <p:spPr>
          <a:xfrm>
            <a:off x="667511" y="3547872"/>
            <a:ext cx="2304621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Greška značajno smanjena iterativnim data-driven profilisanjem težina. Broj slučajeva unutar prihvatljivog odstupanja porastao nakon kalibracije.</a:t>
            </a:r>
            <a:endParaRPr lang="sr-Latn-RS" sz="1150" noProof="1"/>
          </a:p>
        </p:txBody>
      </p:sp>
      <p:sp>
        <p:nvSpPr>
          <p:cNvPr id="26" name="Shape 24"/>
          <p:cNvSpPr/>
          <p:nvPr/>
        </p:nvSpPr>
        <p:spPr>
          <a:xfrm>
            <a:off x="3246120" y="2944368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7" name="Shape 25"/>
          <p:cNvSpPr/>
          <p:nvPr/>
        </p:nvSpPr>
        <p:spPr>
          <a:xfrm>
            <a:off x="3246120" y="2944368"/>
            <a:ext cx="265176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8" name="Text 26"/>
          <p:cNvSpPr/>
          <p:nvPr/>
        </p:nvSpPr>
        <p:spPr>
          <a:xfrm>
            <a:off x="3410711" y="3072384"/>
            <a:ext cx="230462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Ekstrakcija metapodataka</a:t>
            </a:r>
            <a:endParaRPr lang="sr-Latn-RS" sz="1300" noProof="1"/>
          </a:p>
        </p:txBody>
      </p:sp>
      <p:sp>
        <p:nvSpPr>
          <p:cNvPr id="29" name="Text 27"/>
          <p:cNvSpPr/>
          <p:nvPr/>
        </p:nvSpPr>
        <p:spPr>
          <a:xfrm>
            <a:off x="3410711" y="3547872"/>
            <a:ext cx="2304621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Savršena preciznost i odziv za strukturisana polja (datumi, procesni elementi). Slabija tamo gdje izvor daje samo inicijale.</a:t>
            </a:r>
            <a:endParaRPr lang="sr-Latn-RS" sz="1150" noProof="1"/>
          </a:p>
        </p:txBody>
      </p:sp>
      <p:sp>
        <p:nvSpPr>
          <p:cNvPr id="30" name="Shape 28"/>
          <p:cNvSpPr/>
          <p:nvPr/>
        </p:nvSpPr>
        <p:spPr>
          <a:xfrm>
            <a:off x="5989320" y="2944368"/>
            <a:ext cx="26517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31" name="Shape 29"/>
          <p:cNvSpPr/>
          <p:nvPr/>
        </p:nvSpPr>
        <p:spPr>
          <a:xfrm>
            <a:off x="5989320" y="2944368"/>
            <a:ext cx="2651760" cy="64008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2" name="Text 30"/>
          <p:cNvSpPr/>
          <p:nvPr/>
        </p:nvSpPr>
        <p:spPr>
          <a:xfrm>
            <a:off x="6153911" y="3072384"/>
            <a:ext cx="230462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zna šta ne zna</a:t>
            </a:r>
            <a:endParaRPr lang="sr-Latn-RS" sz="1300" noProof="1"/>
          </a:p>
        </p:txBody>
      </p:sp>
      <p:sp>
        <p:nvSpPr>
          <p:cNvPr id="33" name="Text 31"/>
          <p:cNvSpPr/>
          <p:nvPr/>
        </p:nvSpPr>
        <p:spPr>
          <a:xfrm>
            <a:off x="6153911" y="3547872"/>
            <a:ext cx="2304621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Odbija halucinirati puna imena iz inicijalnih zapisa. Dampening sličnosti pri slabom ulazu. Konzervativan quality gate.</a:t>
            </a:r>
            <a:endParaRPr lang="sr-Latn-RS" sz="115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solidFill>
            <a:srgbClr val="A8874A"/>
          </a:solidFill>
          <a:ln w="12700">
            <a:solidFill>
              <a:srgbClr val="A8874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9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EVALUACIJA</a:t>
            </a:r>
            <a:endParaRPr lang="sr-Latn-RS" sz="900" noProof="1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Kalibracija sankcione politike</a:t>
            </a:r>
            <a:endParaRPr lang="sr-Latn-RS" sz="2800" noProof="1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8" name="Shape 6"/>
          <p:cNvSpPr/>
          <p:nvPr/>
        </p:nvSpPr>
        <p:spPr>
          <a:xfrm>
            <a:off x="5623560" y="1261872"/>
            <a:ext cx="402336" cy="56692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9" name="Text 7"/>
          <p:cNvSpPr/>
          <p:nvPr/>
        </p:nvSpPr>
        <p:spPr>
          <a:xfrm>
            <a:off x="5623560" y="1261872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sr-Latn-RS" sz="1600" noProof="1"/>
          </a:p>
        </p:txBody>
      </p:sp>
      <p:sp>
        <p:nvSpPr>
          <p:cNvPr id="10" name="Shape 8"/>
          <p:cNvSpPr/>
          <p:nvPr/>
        </p:nvSpPr>
        <p:spPr>
          <a:xfrm>
            <a:off x="6025896" y="1261872"/>
            <a:ext cx="26151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1" name="Text 9"/>
          <p:cNvSpPr/>
          <p:nvPr/>
        </p:nvSpPr>
        <p:spPr>
          <a:xfrm>
            <a:off x="6190488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Inicijalni pokušaj</a:t>
            </a:r>
            <a:endParaRPr lang="sr-Latn-RS" sz="1150" noProof="1"/>
          </a:p>
        </p:txBody>
      </p:sp>
      <p:sp>
        <p:nvSpPr>
          <p:cNvPr id="12" name="Text 10"/>
          <p:cNvSpPr/>
          <p:nvPr/>
        </p:nvSpPr>
        <p:spPr>
          <a:xfrm>
            <a:off x="6190488" y="1572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Ponderisanje bez profilisanja – visoka greška</a:t>
            </a:r>
            <a:endParaRPr lang="sr-Latn-RS" sz="1000" noProof="1"/>
          </a:p>
        </p:txBody>
      </p:sp>
      <p:sp>
        <p:nvSpPr>
          <p:cNvPr id="13" name="Shape 11"/>
          <p:cNvSpPr/>
          <p:nvPr/>
        </p:nvSpPr>
        <p:spPr>
          <a:xfrm>
            <a:off x="5623560" y="1938528"/>
            <a:ext cx="402336" cy="56692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5623560" y="193852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sr-Latn-RS" sz="1600" noProof="1"/>
          </a:p>
        </p:txBody>
      </p:sp>
      <p:sp>
        <p:nvSpPr>
          <p:cNvPr id="15" name="Shape 13"/>
          <p:cNvSpPr/>
          <p:nvPr/>
        </p:nvSpPr>
        <p:spPr>
          <a:xfrm>
            <a:off x="6025896" y="1938528"/>
            <a:ext cx="26151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6" name="Text 14"/>
          <p:cNvSpPr/>
          <p:nvPr/>
        </p:nvSpPr>
        <p:spPr>
          <a:xfrm>
            <a:off x="6190488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Profilisanje tezina</a:t>
            </a:r>
            <a:endParaRPr lang="sr-Latn-RS" sz="1150" noProof="1"/>
          </a:p>
        </p:txBody>
      </p:sp>
      <p:sp>
        <p:nvSpPr>
          <p:cNvPr id="17" name="Text 15"/>
          <p:cNvSpPr/>
          <p:nvPr/>
        </p:nvSpPr>
        <p:spPr>
          <a:xfrm>
            <a:off x="6190488" y="2249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kalibracija na uzorku od 35 slučajeva</a:t>
            </a:r>
            <a:endParaRPr lang="sr-Latn-RS" sz="1000" noProof="1"/>
          </a:p>
        </p:txBody>
      </p:sp>
      <p:sp>
        <p:nvSpPr>
          <p:cNvPr id="18" name="Shape 16"/>
          <p:cNvSpPr/>
          <p:nvPr/>
        </p:nvSpPr>
        <p:spPr>
          <a:xfrm>
            <a:off x="5623560" y="2615184"/>
            <a:ext cx="402336" cy="56692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9" name="Text 17"/>
          <p:cNvSpPr/>
          <p:nvPr/>
        </p:nvSpPr>
        <p:spPr>
          <a:xfrm>
            <a:off x="5623560" y="2615184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sr-Latn-RS" sz="1600" noProof="1"/>
          </a:p>
        </p:txBody>
      </p:sp>
      <p:sp>
        <p:nvSpPr>
          <p:cNvPr id="20" name="Shape 18"/>
          <p:cNvSpPr/>
          <p:nvPr/>
        </p:nvSpPr>
        <p:spPr>
          <a:xfrm>
            <a:off x="6025896" y="2615184"/>
            <a:ext cx="26151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1" name="Text 19"/>
          <p:cNvSpPr/>
          <p:nvPr/>
        </p:nvSpPr>
        <p:spPr>
          <a:xfrm>
            <a:off x="6190488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Iteracija</a:t>
            </a:r>
            <a:endParaRPr lang="sr-Latn-RS" sz="1150" noProof="1"/>
          </a:p>
        </p:txBody>
      </p:sp>
      <p:sp>
        <p:nvSpPr>
          <p:cNvPr id="22" name="Text 20"/>
          <p:cNvSpPr/>
          <p:nvPr/>
        </p:nvSpPr>
        <p:spPr>
          <a:xfrm>
            <a:off x="6190488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Greška značajno smanjena, prihvatljivi opseg raste</a:t>
            </a:r>
            <a:endParaRPr lang="sr-Latn-RS" sz="1000" noProof="1"/>
          </a:p>
        </p:txBody>
      </p:sp>
      <p:sp>
        <p:nvSpPr>
          <p:cNvPr id="23" name="Shape 21"/>
          <p:cNvSpPr/>
          <p:nvPr/>
        </p:nvSpPr>
        <p:spPr>
          <a:xfrm>
            <a:off x="5623560" y="3291840"/>
            <a:ext cx="402336" cy="56692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4" name="Text 22"/>
          <p:cNvSpPr/>
          <p:nvPr/>
        </p:nvSpPr>
        <p:spPr>
          <a:xfrm>
            <a:off x="5623560" y="3291840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600" b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sr-Latn-RS" sz="1600" noProof="1"/>
          </a:p>
        </p:txBody>
      </p:sp>
      <p:sp>
        <p:nvSpPr>
          <p:cNvPr id="25" name="Shape 23"/>
          <p:cNvSpPr/>
          <p:nvPr/>
        </p:nvSpPr>
        <p:spPr>
          <a:xfrm>
            <a:off x="6025896" y="3291840"/>
            <a:ext cx="261518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26" name="Text 24"/>
          <p:cNvSpPr/>
          <p:nvPr/>
        </p:nvSpPr>
        <p:spPr>
          <a:xfrm>
            <a:off x="6190488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</a:t>
            </a:r>
            <a:endParaRPr lang="sr-Latn-RS" sz="1150" noProof="1"/>
          </a:p>
        </p:txBody>
      </p:sp>
      <p:sp>
        <p:nvSpPr>
          <p:cNvPr id="27" name="Text 25"/>
          <p:cNvSpPr/>
          <p:nvPr/>
        </p:nvSpPr>
        <p:spPr>
          <a:xfrm>
            <a:off x="6190488" y="36027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0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Validacija da nova pravila ne uvode regresiju</a:t>
            </a:r>
            <a:endParaRPr lang="sr-Latn-RS" sz="1000" noProof="1"/>
          </a:p>
        </p:txBody>
      </p:sp>
      <p:sp>
        <p:nvSpPr>
          <p:cNvPr id="28" name="Shape 26"/>
          <p:cNvSpPr/>
          <p:nvPr/>
        </p:nvSpPr>
        <p:spPr>
          <a:xfrm>
            <a:off x="502920" y="4005072"/>
            <a:ext cx="8138160" cy="804672"/>
          </a:xfrm>
          <a:prstGeom prst="rect">
            <a:avLst/>
          </a:prstGeom>
          <a:solidFill>
            <a:srgbClr val="EEF2FF"/>
          </a:solidFill>
          <a:ln w="635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29" name="Shape 27"/>
          <p:cNvSpPr/>
          <p:nvPr/>
        </p:nvSpPr>
        <p:spPr>
          <a:xfrm>
            <a:off x="502920" y="4005072"/>
            <a:ext cx="54864" cy="804672"/>
          </a:xfrm>
          <a:prstGeom prst="rect">
            <a:avLst/>
          </a:prstGeom>
          <a:solidFill>
            <a:srgbClr val="C9AA71"/>
          </a:solidFill>
          <a:ln w="127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0" name="Text 28"/>
          <p:cNvSpPr/>
          <p:nvPr/>
        </p:nvSpPr>
        <p:spPr>
          <a:xfrm>
            <a:off x="704088" y="4069080"/>
            <a:ext cx="7845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150" i="1" noProof="1">
                <a:solidFill>
                  <a:srgbClr val="2D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Iteracije nisu bile kozmetičke – metrike pokazuju suštinsku razliku. Sistem se popravlja tamo gdje podaci dozvoljavaju, a tamo gdje ne – ostaje konzervativan.</a:t>
            </a:r>
            <a:endParaRPr lang="sr-Latn-RS" sz="1150" noProof="1"/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EA7469F4-6DC0-3B0F-07E9-A378F0E4E8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89536"/>
              </p:ext>
            </p:extLst>
          </p:nvPr>
        </p:nvGraphicFramePr>
        <p:xfrm>
          <a:off x="1040892" y="1284078"/>
          <a:ext cx="3934968" cy="2542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Prednosti &amp; ograničenja – realna slika</a:t>
            </a:r>
            <a:endParaRPr lang="sr-Latn-RS" sz="2800" noProof="1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37490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749040" cy="6400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Text 4"/>
          <p:cNvSpPr/>
          <p:nvPr/>
        </p:nvSpPr>
        <p:spPr>
          <a:xfrm>
            <a:off x="685800" y="12435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500" b="1" noProof="1">
                <a:solidFill>
                  <a:srgbClr val="1557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Prednosti</a:t>
            </a:r>
            <a:endParaRPr lang="sr-Latn-RS" sz="1500" noProof="1"/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33832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Objašnjivo rezonovanje – normativni + analogijski trag uvijek vidljiv korisniku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Modularno – zamjenljivi LLM provider bez lomljenja ostatka arhitekture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human override – pravnik kontroliše činjenični sloj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Skalabilno na druge pravne oblasti – isti obrazac, nova normativna mapa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Operativno pouzdano – healthcheck, korelirani logovi, CI validacija</a:t>
            </a:r>
            <a:endParaRPr lang="sr-Latn-RS" sz="1250" noProof="1"/>
          </a:p>
        </p:txBody>
      </p:sp>
      <p:sp>
        <p:nvSpPr>
          <p:cNvPr id="8" name="Shape 6"/>
          <p:cNvSpPr/>
          <p:nvPr/>
        </p:nvSpPr>
        <p:spPr>
          <a:xfrm>
            <a:off x="4892040" y="1115568"/>
            <a:ext cx="374904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4892040" y="1115568"/>
            <a:ext cx="374904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5074920" y="12435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500" b="1" noProof="1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Ograničenja</a:t>
            </a:r>
            <a:endParaRPr lang="sr-Latn-RS" sz="1500" noProof="1"/>
          </a:p>
        </p:txBody>
      </p:sp>
      <p:sp>
        <p:nvSpPr>
          <p:cNvPr id="11" name="Text 9"/>
          <p:cNvSpPr/>
          <p:nvPr/>
        </p:nvSpPr>
        <p:spPr>
          <a:xfrm>
            <a:off x="5074920" y="1719072"/>
            <a:ext cx="33832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Zavisnost od kvaliteta ulaznih dokumenata – OCR greške se ne mogu potpuno nadoknaditi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Evaluacija je još uvek mini-skalirana – nije široka statistička validacija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Lokalna konfiguracija – direktne adrese servisa, nije produkciono okruženje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role-based autentikacije ni finih politika pristupa po ulozi</a:t>
            </a:r>
            <a:endParaRPr lang="sr-Latn-RS" sz="1250" noProof="1"/>
          </a:p>
          <a:p>
            <a:pPr marL="342900" indent="-342900">
              <a:buSzPct val="100000"/>
              <a:buChar char="•"/>
            </a:pPr>
            <a:r>
              <a:rPr lang="sr-Latn-RS" sz="125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Etički: nije opravdano predstavljati kao autonomnog donosioca presude</a:t>
            </a:r>
            <a:endParaRPr lang="sr-Latn-RS" sz="125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280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Sledeći koraci – plan nadogradnji</a:t>
            </a:r>
            <a:endParaRPr lang="sr-Latn-RS" sz="2800" noProof="1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0"/>
          </a:xfrm>
          <a:prstGeom prst="line">
            <a:avLst/>
          </a:prstGeom>
          <a:noFill/>
          <a:ln w="9525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5146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514600" cy="6400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6" name="Text 4"/>
          <p:cNvSpPr/>
          <p:nvPr/>
        </p:nvSpPr>
        <p:spPr>
          <a:xfrm>
            <a:off x="667512" y="126187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Kratkoročno</a:t>
            </a:r>
            <a:endParaRPr lang="sr-Latn-RS" sz="1350" noProof="1"/>
          </a:p>
        </p:txBody>
      </p:sp>
      <p:sp>
        <p:nvSpPr>
          <p:cNvPr id="7" name="Text 5"/>
          <p:cNvSpPr/>
          <p:nvPr/>
        </p:nvSpPr>
        <p:spPr>
          <a:xfrm>
            <a:off x="667512" y="1773936"/>
            <a:ext cx="2185416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Konfiguraciona nezavisnost od localhost adresa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autentikacija i autorizacija po ulozi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Politika pseudonimizacije osetljivih podataka</a:t>
            </a:r>
            <a:endParaRPr lang="sr-Latn-RS" sz="1200" noProof="1"/>
          </a:p>
        </p:txBody>
      </p:sp>
      <p:sp>
        <p:nvSpPr>
          <p:cNvPr id="8" name="Shape 6"/>
          <p:cNvSpPr/>
          <p:nvPr/>
        </p:nvSpPr>
        <p:spPr>
          <a:xfrm>
            <a:off x="3246120" y="1115568"/>
            <a:ext cx="25146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9" name="Shape 7"/>
          <p:cNvSpPr/>
          <p:nvPr/>
        </p:nvSpPr>
        <p:spPr>
          <a:xfrm>
            <a:off x="3246120" y="1115568"/>
            <a:ext cx="2514600" cy="64008"/>
          </a:xfrm>
          <a:prstGeom prst="rect">
            <a:avLst/>
          </a:prstGeom>
          <a:solidFill>
            <a:srgbClr val="2D3E6B"/>
          </a:solidFill>
          <a:ln w="12700">
            <a:solidFill>
              <a:srgbClr val="2D3E6B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0" name="Text 8"/>
          <p:cNvSpPr/>
          <p:nvPr/>
        </p:nvSpPr>
        <p:spPr>
          <a:xfrm>
            <a:off x="3410712" y="126187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Srednje</a:t>
            </a:r>
            <a:endParaRPr lang="sr-Latn-RS" sz="1350" noProof="1"/>
          </a:p>
        </p:txBody>
      </p:sp>
      <p:sp>
        <p:nvSpPr>
          <p:cNvPr id="11" name="Text 9"/>
          <p:cNvSpPr/>
          <p:nvPr/>
        </p:nvSpPr>
        <p:spPr>
          <a:xfrm>
            <a:off x="3410712" y="1773936"/>
            <a:ext cx="2185416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Proširenje evaluacije na veći i raznovrsniji korpus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Automatska provjera kontradikcija u generisanim odlukama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Formalniji port-adapter ugovori i observability instrumentacija</a:t>
            </a:r>
            <a:endParaRPr lang="sr-Latn-RS" sz="1200" noProof="1"/>
          </a:p>
        </p:txBody>
      </p:sp>
      <p:sp>
        <p:nvSpPr>
          <p:cNvPr id="12" name="Shape 10"/>
          <p:cNvSpPr/>
          <p:nvPr/>
        </p:nvSpPr>
        <p:spPr>
          <a:xfrm>
            <a:off x="5989320" y="1115568"/>
            <a:ext cx="25146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9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 noProof="1"/>
          </a:p>
        </p:txBody>
      </p:sp>
      <p:sp>
        <p:nvSpPr>
          <p:cNvPr id="13" name="Shape 11"/>
          <p:cNvSpPr/>
          <p:nvPr/>
        </p:nvSpPr>
        <p:spPr>
          <a:xfrm>
            <a:off x="5989320" y="1115568"/>
            <a:ext cx="25146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14" name="Text 12"/>
          <p:cNvSpPr/>
          <p:nvPr/>
        </p:nvSpPr>
        <p:spPr>
          <a:xfrm>
            <a:off x="6153912" y="126187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noProof="1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Dugoročno</a:t>
            </a:r>
            <a:endParaRPr lang="sr-Latn-RS" sz="1350" noProof="1"/>
          </a:p>
        </p:txBody>
      </p:sp>
      <p:sp>
        <p:nvSpPr>
          <p:cNvPr id="15" name="Text 13"/>
          <p:cNvSpPr/>
          <p:nvPr/>
        </p:nvSpPr>
        <p:spPr>
          <a:xfrm>
            <a:off x="6153912" y="1773936"/>
            <a:ext cx="2185416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Multijurisdikcijska konfiguracija (više zakona, oblasti)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Lazy/streaming obrada za velike korpuse</a:t>
            </a:r>
            <a:endParaRPr lang="sr-Latn-RS" sz="1200" noProof="1"/>
          </a:p>
          <a:p>
            <a:pPr marL="342900" indent="-342900">
              <a:buSzPct val="100000"/>
              <a:buChar char="•"/>
            </a:pPr>
            <a:r>
              <a:rPr lang="sr-Latn-RS" sz="1200" noProof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sloj: koji deo odgovora potiče iz pravila / CBR / LLM</a:t>
            </a:r>
            <a:endParaRPr lang="sr-Latn-RS" sz="120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2D3E6B">
              <a:alpha val="38000"/>
            </a:srgbClr>
          </a:solidFill>
          <a:ln w="12700">
            <a:solidFill>
              <a:srgbClr val="2D3E6B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3" name="Shape 1"/>
          <p:cNvSpPr/>
          <p:nvPr/>
        </p:nvSpPr>
        <p:spPr>
          <a:xfrm>
            <a:off x="6400800" y="2011680"/>
            <a:ext cx="3840480" cy="3840480"/>
          </a:xfrm>
          <a:prstGeom prst="ellipse">
            <a:avLst/>
          </a:prstGeom>
          <a:solidFill>
            <a:srgbClr val="A8874A">
              <a:alpha val="20000"/>
            </a:srgbClr>
          </a:solidFill>
          <a:ln w="12700">
            <a:solidFill>
              <a:srgbClr val="A8874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54864" cy="2377440"/>
          </a:xfrm>
          <a:prstGeom prst="rect">
            <a:avLst/>
          </a:prstGeom>
          <a:solidFill>
            <a:srgbClr val="C9AA71"/>
          </a:solidFill>
          <a:ln w="12700">
            <a:solidFill>
              <a:srgbClr val="C9AA71"/>
            </a:solidFill>
            <a:prstDash val="solid"/>
          </a:ln>
        </p:spPr>
        <p:txBody>
          <a:bodyPr/>
          <a:lstStyle/>
          <a:p>
            <a:endParaRPr lang="sr-Latn-RS" noProof="1"/>
          </a:p>
        </p:txBody>
      </p:sp>
      <p:sp>
        <p:nvSpPr>
          <p:cNvPr id="5" name="Text 3"/>
          <p:cNvSpPr/>
          <p:nvPr/>
        </p:nvSpPr>
        <p:spPr>
          <a:xfrm>
            <a:off x="758952" y="1481328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3100" b="1" i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"Copilot za pravnika,</a:t>
            </a:r>
            <a:endParaRPr lang="sr-Latn-RS" sz="3100" noProof="1"/>
          </a:p>
          <a:p>
            <a:pPr marL="0" indent="0">
              <a:buNone/>
            </a:pPr>
            <a:r>
              <a:rPr lang="sr-Latn-RS" sz="3100" b="1" i="1" noProof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autopilot za suđenje."</a:t>
            </a:r>
            <a:endParaRPr lang="sr-Latn-RS" sz="3100" noProof="1"/>
          </a:p>
        </p:txBody>
      </p:sp>
      <p:sp>
        <p:nvSpPr>
          <p:cNvPr id="8" name="Text 6"/>
          <p:cNvSpPr/>
          <p:nvPr/>
        </p:nvSpPr>
        <p:spPr>
          <a:xfrm>
            <a:off x="758952" y="325472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noProof="1">
                <a:solidFill>
                  <a:srgbClr val="C9A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Objašnjiv  ·  Modularan  ·  Odgovoran  ·  Skalabilan</a:t>
            </a:r>
            <a:endParaRPr lang="sr-Latn-RS" sz="13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3094</Words>
  <Application>Microsoft Office PowerPoint</Application>
  <PresentationFormat>On-screen Show (16:9)</PresentationFormat>
  <Paragraphs>629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za podršku sudskom odlučivanju – Tim 7</dc:title>
  <dc:subject>PptxGenJS Presentation</dc:subject>
  <dc:creator>Tim 7</dc:creator>
  <cp:lastModifiedBy>Student</cp:lastModifiedBy>
  <cp:revision>5</cp:revision>
  <dcterms:created xsi:type="dcterms:W3CDTF">2026-04-21T16:02:47Z</dcterms:created>
  <dcterms:modified xsi:type="dcterms:W3CDTF">2026-04-21T18:29:59Z</dcterms:modified>
</cp:coreProperties>
</file>